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94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E448-B02F-4834-ACB1-BF409D07CCEC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F0CCDD-2B99-4FF5-8E62-7DA0819C5FE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7881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China ist ein Imperium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F0CCDD-2B99-4FF5-8E62-7DA0819C5FE1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92881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UN Bericht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F0CCDD-2B99-4FF5-8E62-7DA0819C5FE1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57285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FBC260-497B-2745-38F4-47EA3821D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FB629C3-9E3B-2B07-DDEF-5C93ECFC9E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6E39A1-AC63-EB91-5D8E-0E6CF8787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19954-D628-4D46-9A22-5D4F62798505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56C4485-B9F8-C816-0B8A-A9FFCC074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AF5D6A7-2F55-63D5-3FC0-6CF1E35ED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17F4E-ACB6-4D25-9F6C-8F2D824B580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6641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A3E9E3-DC34-11A9-46DD-35FD035DA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5CA1A2-AD2A-374E-F356-41E188C69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AE4ECF6-E1E4-31DA-1E8C-0EE6B548C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19954-D628-4D46-9A22-5D4F62798505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3AD633-8543-8105-76A8-AC3455690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D36CA78-9829-CD6D-E04B-A0C8FC489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17F4E-ACB6-4D25-9F6C-8F2D824B580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1297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FE3F2B-3CC3-F2C7-B069-438F21FC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59D51E7-3B7B-2D45-D107-E261175C8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8FF85A-F759-124E-8044-C0AA01173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19954-D628-4D46-9A22-5D4F62798505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257DE9E-0D48-0381-FFD1-FF4BB21E5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C973E0A-3B7A-8D93-3A59-5F89A2F7F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17F4E-ACB6-4D25-9F6C-8F2D824B580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1468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4A76CF-AFEE-8D27-5675-4336E2E29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4BE9A9C-D9B1-11F5-488A-C1FE79F506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F3F98E8-3CC3-8929-52A6-405E1EBD6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BD5796E-3F8F-9A01-2F08-EA1233D59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19954-D628-4D46-9A22-5D4F62798505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F2D1E57-3DA1-3361-761F-099C57F30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BD1869F-25FB-4EBB-D865-D8E79A8BF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17F4E-ACB6-4D25-9F6C-8F2D824B580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9121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2B06F2-20ED-8F56-D22E-28E9DCF1E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A14567D-F9E3-E69C-18E2-3BC1145D63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BD0CE6-570A-DBC5-7E88-50CDD5CD98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71C7F63-22B2-C1AA-1CE2-8B9DADCE11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310957E-9FB2-1230-2B6D-B50C668B01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8CCE239-CDFC-8B00-FD9E-4E1E34F75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19954-D628-4D46-9A22-5D4F62798505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AE1E353-0DF6-043A-5960-1D5E4630A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69D3E33-68AC-F444-F87D-5406FDB2E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17F4E-ACB6-4D25-9F6C-8F2D824B580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4282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E25E08-E769-F5F9-6764-5CB046ED9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7A18675-6642-DB2C-7E34-D37A5B9D3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19954-D628-4D46-9A22-5D4F62798505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FA25B8E-5C11-C6F0-D365-C53423BB3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27073EB-1551-68E6-0689-1B7B6AFC5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17F4E-ACB6-4D25-9F6C-8F2D824B580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4153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F24CA2B-3C2A-AE04-FEB4-79ADA6172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19954-D628-4D46-9A22-5D4F62798505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40FEEC7-0975-EE2F-E4DC-2635E2786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3A8210-C19A-FE91-83EF-24C905B5E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17F4E-ACB6-4D25-9F6C-8F2D824B580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1600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02E8A6-67F1-220F-D50D-137235D07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C5D3E2E-EAD1-51FA-D93F-9CC0EF603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3F1B85F-9330-1C45-425D-857716CCE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91DF343-E679-9115-48A4-7F809ED5B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19954-D628-4D46-9A22-5D4F62798505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AC63937-695E-61EC-946F-2A23D4762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0AFE590-1421-9A2A-7003-53DA485CA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17F4E-ACB6-4D25-9F6C-8F2D824B580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5640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5253E6-0DAB-C053-6ED7-8FF7B88C3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FB518E2-ECE3-7CD7-C59A-C389A74866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E372AE9-5E62-DB02-FB0C-888295324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DCB72E1-98C7-8B84-3E73-316C5A28E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19954-D628-4D46-9A22-5D4F62798505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5700E01-2B2D-10B0-BF7D-D1D707B05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8E3F5DE-B533-3B2E-F5E2-E4E1A42CB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17F4E-ACB6-4D25-9F6C-8F2D824B580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7832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62B9FF-4790-DBB0-958E-93031026F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1333205-6ACD-C4DC-ABBC-854BD3B3F0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073E34-2B96-8394-EB79-A87120878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19954-D628-4D46-9A22-5D4F62798505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81FD1E6-35B4-4C0E-FF09-26318D9C0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EA016C-DBF6-AA0D-BE2D-658BDFDBE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17F4E-ACB6-4D25-9F6C-8F2D824B580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2825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1682BFC-8524-B718-6B33-BA464045A1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49A7584-05DB-DB12-84B4-E1ACAFCFAA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346078-C41A-6CE0-8BFD-F770CB83E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19954-D628-4D46-9A22-5D4F62798505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DAD6030-3D1A-C390-0CEE-1EA488FB7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54B2B7A-5982-3AD5-D2C3-21F5C7D6C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17F4E-ACB6-4D25-9F6C-8F2D824B580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142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B7FA6E3-B7CD-F97A-F806-0B4986A3B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0445793-F0C7-A998-116D-D4AFDB265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2B1E37-55A8-FBAE-DF8E-9DF117E656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019954-D628-4D46-9A22-5D4F62798505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465F39-5B43-15F9-5173-7C55B7D31E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750A1C-6946-859A-8FFC-0F0A86528A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E17F4E-ACB6-4D25-9F6C-8F2D824B580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4433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ats.gov.cn/english/InternationalTraining/202405/P020201012524513990305.pdf" TargetMode="External"/><Relationship Id="rId2" Type="http://schemas.openxmlformats.org/officeDocument/2006/relationships/hyperlink" Target="https://www.bmi.bund.de/SharedDocs/downloads/EN/publikationen/2016/national-minorities-minority-and-regional-languages-in-germany.pdf?__blob=publicationFil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hina-schul-akademie.de/lernmodule/mxj/" TargetMode="External"/><Relationship Id="rId5" Type="http://schemas.openxmlformats.org/officeDocument/2006/relationships/hyperlink" Target="https://arxiv.org/abs/2508.21625" TargetMode="External"/><Relationship Id="rId4" Type="http://schemas.openxmlformats.org/officeDocument/2006/relationships/hyperlink" Target="https://www.stats.gov.cn/english/PressRelease/202105/t20210510_1817185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E472BA-83CD-10AF-BD5F-9EDB6A0B9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Minderheiten in Deutschland vs. China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EEA12E2-4B9B-D293-24AF-CAE3F9618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Wie viele Minderheiten denkt ihr, gibt es in Deutschland und China?</a:t>
            </a:r>
          </a:p>
        </p:txBody>
      </p:sp>
    </p:spTree>
    <p:extLst>
      <p:ext uri="{BB962C8B-B14F-4D97-AF65-F5344CB8AC3E}">
        <p14:creationId xmlns:p14="http://schemas.microsoft.com/office/powerpoint/2010/main" val="3082001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4C1A58-F034-A6FC-FB25-0D8C46937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de-DE" dirty="0"/>
              <a:t>Deutschland: 4 anerkannte Minderheiten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dirty="0"/>
              <a:t>Dänische Minderheit, Sorben, Friesen, Deutsche Sinti und Roma</a:t>
            </a:r>
          </a:p>
          <a:p>
            <a:r>
              <a:rPr lang="de-DE" dirty="0"/>
              <a:t>China: 56 anerkannte Minderheiten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dirty="0"/>
              <a:t>(</a:t>
            </a:r>
            <a:r>
              <a:rPr lang="de-DE" dirty="0" err="1"/>
              <a:t>Zhuang</a:t>
            </a:r>
            <a:r>
              <a:rPr lang="de-DE" dirty="0"/>
              <a:t>, Uiguren, etc.)</a:t>
            </a:r>
          </a:p>
          <a:p>
            <a:pPr marL="457200" lvl="1" indent="0">
              <a:buNone/>
            </a:pPr>
            <a:endParaRPr lang="de-DE" dirty="0"/>
          </a:p>
          <a:p>
            <a:pPr marL="457200" lvl="1" indent="0">
              <a:buNone/>
            </a:pPr>
            <a:endParaRPr lang="de-DE" dirty="0"/>
          </a:p>
          <a:p>
            <a:pPr marL="457200" lvl="1" indent="0">
              <a:buNone/>
            </a:pPr>
            <a:endParaRPr lang="de-DE" dirty="0"/>
          </a:p>
          <a:p>
            <a:pPr marL="457200" lvl="1" indent="0">
              <a:buNone/>
            </a:pPr>
            <a:r>
              <a:rPr lang="de-DE" dirty="0"/>
              <a:t>→ Riesiger Unterschied 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91387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F2B883-2549-CB5A-E80D-5F3704BBC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Ethnische Minderheiten in China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6564A31-BC84-7A6C-0C37-8C828938F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Definition: Was ist eine Ethnische Minderheit</a:t>
            </a:r>
          </a:p>
          <a:p>
            <a:r>
              <a:rPr lang="de-DE" dirty="0"/>
              <a:t>Historischer Hintergrund</a:t>
            </a:r>
          </a:p>
          <a:p>
            <a:r>
              <a:rPr lang="de-DE" dirty="0"/>
              <a:t>Überblick in Chinas Minderheiten heute</a:t>
            </a:r>
          </a:p>
          <a:p>
            <a:r>
              <a:rPr lang="de-DE" dirty="0"/>
              <a:t>Minderheitenpolitik Chinas</a:t>
            </a:r>
          </a:p>
          <a:p>
            <a:r>
              <a:rPr lang="de-DE" dirty="0"/>
              <a:t>Konflikte und Kritik</a:t>
            </a:r>
          </a:p>
          <a:p>
            <a:r>
              <a:rPr lang="de-DE" dirty="0"/>
              <a:t>Beispiel Xinjiang</a:t>
            </a:r>
          </a:p>
          <a:p>
            <a:r>
              <a:rPr lang="de-DE" dirty="0"/>
              <a:t>Differenzierung zu Städten</a:t>
            </a:r>
          </a:p>
          <a:p>
            <a:r>
              <a:rPr lang="de-DE" dirty="0"/>
              <a:t>Quellen</a:t>
            </a:r>
          </a:p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B146A15-AB46-03F2-0F74-287AED9430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2655" y="0"/>
            <a:ext cx="2729345" cy="2729345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81D65A5E-6BCD-1E42-71C0-A6994DE36362}"/>
              </a:ext>
            </a:extLst>
          </p:cNvPr>
          <p:cNvSpPr txBox="1"/>
          <p:nvPr/>
        </p:nvSpPr>
        <p:spPr>
          <a:xfrm>
            <a:off x="0" y="6596390"/>
            <a:ext cx="55531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https://img.freepik.com/vektoren-premium/symbol-fuer-die-gliederung-der-dokumentdatei_791764-480.jpg</a:t>
            </a:r>
          </a:p>
        </p:txBody>
      </p:sp>
    </p:spTree>
    <p:extLst>
      <p:ext uri="{BB962C8B-B14F-4D97-AF65-F5344CB8AC3E}">
        <p14:creationId xmlns:p14="http://schemas.microsoft.com/office/powerpoint/2010/main" val="3752785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2E6F14-2998-BB40-1C61-F7239A815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Definition: ethnische Minderheit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5C53C4B-3213-ED50-D3D1-030CD5D5A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Mit „ethnischer Minderheit“ wird eine Volksgruppe bezeichnet, deren Angehörige sich durch gemeinsame ethnische, kulturelle, religiöse oder sprachliche Merkmale von der Mehrheitsbevölkerung eines Staates unterscheidet.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→ Unterschiede in Kultur, Sprache, Gefühl der Zugehörigkeit, …</a:t>
            </a:r>
          </a:p>
          <a:p>
            <a:pPr marL="0" indent="0">
              <a:buNone/>
            </a:pPr>
            <a:r>
              <a:rPr lang="de-DE" dirty="0"/>
              <a:t>→ ≠ Religiöse Minderheiten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2EC2E42-C8FD-52AE-386E-170E227D7C62}"/>
              </a:ext>
            </a:extLst>
          </p:cNvPr>
          <p:cNvSpPr txBox="1"/>
          <p:nvPr/>
        </p:nvSpPr>
        <p:spPr>
          <a:xfrm>
            <a:off x="0" y="6596390"/>
            <a:ext cx="55531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https://img.freepik.com/vektoren-premium/symbol-fuer-die-gliederung-der-dokumentdatei_791764-480.jpg</a:t>
            </a:r>
          </a:p>
        </p:txBody>
      </p:sp>
      <p:pic>
        <p:nvPicPr>
          <p:cNvPr id="1026" name="Picture 2" descr="Definition - Kostenlose bildung-Icons">
            <a:extLst>
              <a:ext uri="{FF2B5EF4-FFF2-40B4-BE49-F238E27FC236}">
                <a16:creationId xmlns:a16="http://schemas.microsoft.com/office/drawing/2014/main" id="{8D2D1276-AA66-A0B7-5A8C-7317820316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0959" y="-1"/>
            <a:ext cx="1831041" cy="1831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9018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0E366A-EA92-1247-AB22-B46077441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Historischer Hintergrund: Kaiserzeit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C31ABE4-54A8-DDF0-79DA-8B7EF0038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China war kein einheitlicher Nationalstaat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dirty="0"/>
              <a:t>Zusammensetzung aus verschiedenen Reichen</a:t>
            </a:r>
          </a:p>
          <a:p>
            <a:r>
              <a:rPr lang="de-DE" dirty="0"/>
              <a:t>Schon damals lebten Minderheiten in Grenzregionen</a:t>
            </a:r>
          </a:p>
          <a:p>
            <a:r>
              <a:rPr lang="de-DE" dirty="0"/>
              <a:t>Verschiedene Dynastien haben das Reich erweitert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dirty="0"/>
              <a:t>Teils integriert, teils militärisch kontrolliert oder verdrängt</a:t>
            </a:r>
          </a:p>
          <a:p>
            <a:r>
              <a:rPr lang="de-DE" dirty="0"/>
              <a:t>Qing-Dynastie machte aus China ein einheitliches Großreich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→ Enge Verknüpfung der Minderheitenfrage und Geschichte Chinas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763F563-0391-2DE9-7308-A10C990BE991}"/>
              </a:ext>
            </a:extLst>
          </p:cNvPr>
          <p:cNvSpPr txBox="1"/>
          <p:nvPr/>
        </p:nvSpPr>
        <p:spPr>
          <a:xfrm>
            <a:off x="0" y="6596390"/>
            <a:ext cx="510909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https://www.vecteezy.com/vector-art/18994729-ancient-china-history-line-icon-vector-illustration</a:t>
            </a:r>
          </a:p>
        </p:txBody>
      </p:sp>
      <p:pic>
        <p:nvPicPr>
          <p:cNvPr id="2052" name="Picture 4" descr="ancient china history line icon vector illustration 18994729 Vector Art at  Vecteezy">
            <a:extLst>
              <a:ext uri="{FF2B5EF4-FFF2-40B4-BE49-F238E27FC236}">
                <a16:creationId xmlns:a16="http://schemas.microsoft.com/office/drawing/2014/main" id="{5DAFB840-C739-6457-3E01-FDD36862D4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3090" y="1"/>
            <a:ext cx="2008909" cy="2008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2626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1AA6C-E647-2ADA-6A17-6BEBD2C70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1E1625-0D4D-3C47-5ECA-5FCB0E522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Historischer Hintergrund: 20. Jahrhundert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D1CC39F-874D-6467-2994-84BA96FB8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Die Volksrepublik China wollte ein moderner Staat sein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dirty="0"/>
              <a:t>offizielle Klassifizierung ethnischer Gruppen</a:t>
            </a:r>
          </a:p>
          <a:p>
            <a:r>
              <a:rPr lang="de-DE" dirty="0"/>
              <a:t>Entstehung der gemeinsamen Chinesischen Volksidentität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→ Grundideen bis heute:</a:t>
            </a:r>
          </a:p>
          <a:p>
            <a:pPr marL="0" indent="0">
              <a:buNone/>
            </a:pPr>
            <a:r>
              <a:rPr lang="de-DE" dirty="0"/>
              <a:t>     → Autonome Regionen (Tibet, Xinjiang, etc.)</a:t>
            </a:r>
          </a:p>
          <a:p>
            <a:pPr marL="0" indent="0">
              <a:buNone/>
            </a:pPr>
            <a:r>
              <a:rPr lang="de-DE" dirty="0"/>
              <a:t>     → Gemeinsame Volksidentität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166F4ECB-CC07-6E21-D65A-9B25DC8CA86D}"/>
              </a:ext>
            </a:extLst>
          </p:cNvPr>
          <p:cNvCxnSpPr/>
          <p:nvPr/>
        </p:nvCxnSpPr>
        <p:spPr>
          <a:xfrm>
            <a:off x="1331259" y="5190565"/>
            <a:ext cx="4504765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ancient china history line icon vector illustration 18994729 Vector Art at  Vecteezy">
            <a:extLst>
              <a:ext uri="{FF2B5EF4-FFF2-40B4-BE49-F238E27FC236}">
                <a16:creationId xmlns:a16="http://schemas.microsoft.com/office/drawing/2014/main" id="{1F16E3E9-DC10-AEBA-D02D-ED4DC85A9F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3090" y="1"/>
            <a:ext cx="2008909" cy="2008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5D6047D4-A5B7-264B-F3B0-8B46D5B4B7FF}"/>
              </a:ext>
            </a:extLst>
          </p:cNvPr>
          <p:cNvSpPr txBox="1"/>
          <p:nvPr/>
        </p:nvSpPr>
        <p:spPr>
          <a:xfrm>
            <a:off x="0" y="6596390"/>
            <a:ext cx="510909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https://www.vecteezy.com/vector-art/18994729-ancient-china-history-line-icon-vector-illustration</a:t>
            </a:r>
          </a:p>
        </p:txBody>
      </p:sp>
    </p:spTree>
    <p:extLst>
      <p:ext uri="{BB962C8B-B14F-4D97-AF65-F5344CB8AC3E}">
        <p14:creationId xmlns:p14="http://schemas.microsoft.com/office/powerpoint/2010/main" val="4083377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9CB040-2B43-554E-1194-5168C7288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Überblick Chinas Minderheiten heute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3E18F9-5CE3-62AE-3014-A10B953F4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56 ethnische Minderheiten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dirty="0"/>
              <a:t>91,11% Han-Chinesen (</a:t>
            </a:r>
            <a:r>
              <a:rPr lang="en-US" dirty="0"/>
              <a:t>1.286,31 Mio.</a:t>
            </a:r>
            <a:r>
              <a:rPr lang="de-DE" dirty="0"/>
              <a:t>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dirty="0"/>
              <a:t>8,89% Minderheiten (125,47 Mio.)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de-DE" dirty="0" err="1"/>
              <a:t>Zhuang</a:t>
            </a:r>
            <a:r>
              <a:rPr lang="de-DE" dirty="0"/>
              <a:t> (1,38% - 19,57 Mio.)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de-DE" dirty="0"/>
              <a:t>Uiguren (0,83% - 11,77 Mio.)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de-DE" dirty="0"/>
              <a:t>…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de-DE" dirty="0" err="1"/>
              <a:t>Gaoshan</a:t>
            </a:r>
            <a:r>
              <a:rPr lang="de-DE" dirty="0"/>
              <a:t> (0,0002% - 3,48 Tsd.)</a:t>
            </a:r>
          </a:p>
          <a:p>
            <a:pPr lvl="2">
              <a:buFont typeface="Wingdings" panose="05000000000000000000" pitchFamily="2" charset="2"/>
              <a:buChar char="Ø"/>
            </a:pPr>
            <a:endParaRPr lang="de-DE" dirty="0"/>
          </a:p>
          <a:p>
            <a:r>
              <a:rPr lang="de-DE" dirty="0"/>
              <a:t>Minderheiten leben oft in Grenzregionen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6C83994-533A-76B5-32FC-93A338948A79}"/>
              </a:ext>
            </a:extLst>
          </p:cNvPr>
          <p:cNvSpPr txBox="1"/>
          <p:nvPr/>
        </p:nvSpPr>
        <p:spPr>
          <a:xfrm>
            <a:off x="0" y="6596390"/>
            <a:ext cx="186621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https://icons8.de/icons/set/today</a:t>
            </a:r>
          </a:p>
        </p:txBody>
      </p:sp>
      <p:pic>
        <p:nvPicPr>
          <p:cNvPr id="3074" name="Picture 2" descr="Today Icons, Logos, Symbole – Kostenloser Download PNG, SVG">
            <a:extLst>
              <a:ext uri="{FF2B5EF4-FFF2-40B4-BE49-F238E27FC236}">
                <a16:creationId xmlns:a16="http://schemas.microsoft.com/office/drawing/2014/main" id="{09E2775C-B621-2BEC-4D16-A4131F724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9558" y="1"/>
            <a:ext cx="1602441" cy="1602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4135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6579D-9F85-AB4C-D9C9-F6F06DF0A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034B2A-0697-DEC8-A871-67FFAEFFB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Chinas Minderheitenpolitik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53FA22-443A-CAEA-3E00-DA4891E814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China beschreibt sich als „</a:t>
            </a:r>
            <a:r>
              <a:rPr lang="de-DE" dirty="0" err="1"/>
              <a:t>Mulit</a:t>
            </a:r>
            <a:r>
              <a:rPr lang="de-DE" dirty="0"/>
              <a:t>-Ethnischen Staat“</a:t>
            </a:r>
          </a:p>
          <a:p>
            <a:r>
              <a:rPr lang="de-DE" dirty="0"/>
              <a:t>Gesetzliche Grundlagen (autonome Gebiete)</a:t>
            </a:r>
          </a:p>
          <a:p>
            <a:r>
              <a:rPr lang="de-DE" dirty="0"/>
              <a:t>Förderung durch den Staat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dirty="0"/>
              <a:t>Infrastruktur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dirty="0"/>
              <a:t>Armutsbekämpfung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dirty="0"/>
              <a:t>Nationale Harmonie</a:t>
            </a:r>
          </a:p>
          <a:p>
            <a:r>
              <a:rPr lang="de-DE" dirty="0"/>
              <a:t>Erhaltung von Kultur</a:t>
            </a:r>
          </a:p>
        </p:txBody>
      </p:sp>
      <p:pic>
        <p:nvPicPr>
          <p:cNvPr id="5122" name="Picture 2" descr="Assistent Minority Leader-Icon-Vektorbild kann für Politik verwendet werden  | Premium Vektor">
            <a:extLst>
              <a:ext uri="{FF2B5EF4-FFF2-40B4-BE49-F238E27FC236}">
                <a16:creationId xmlns:a16="http://schemas.microsoft.com/office/drawing/2014/main" id="{9478B751-49D3-B956-B0A5-BD182C004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5544" y="0"/>
            <a:ext cx="1766455" cy="176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8F0E2A18-E52D-226F-AD2F-221FD1C3209F}"/>
              </a:ext>
            </a:extLst>
          </p:cNvPr>
          <p:cNvSpPr txBox="1"/>
          <p:nvPr/>
        </p:nvSpPr>
        <p:spPr>
          <a:xfrm>
            <a:off x="0" y="6596390"/>
            <a:ext cx="704391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https://de.freepik.com/vektoren-premium/assistent-minority-leader-icon-vektorbild-kann-fuer-politik-verwendet-werden_154823308.htm</a:t>
            </a:r>
          </a:p>
        </p:txBody>
      </p:sp>
    </p:spTree>
    <p:extLst>
      <p:ext uri="{BB962C8B-B14F-4D97-AF65-F5344CB8AC3E}">
        <p14:creationId xmlns:p14="http://schemas.microsoft.com/office/powerpoint/2010/main" val="2618485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4BEA8-1507-2B99-85A2-ACCBC8A20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CAEF53-2203-7D3A-2452-DE57A74DB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Konflikte und Kritik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2FC188F-58D4-B13E-CE32-8366A4A02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Starke Ausrichtung auf Mandarin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dirty="0"/>
              <a:t>Sprachverlust</a:t>
            </a:r>
          </a:p>
          <a:p>
            <a:r>
              <a:rPr lang="de-DE" dirty="0"/>
              <a:t>Abhängigkeit vom Staat</a:t>
            </a:r>
          </a:p>
          <a:p>
            <a:r>
              <a:rPr lang="de-DE" dirty="0"/>
              <a:t>Umerziehung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dirty="0"/>
              <a:t>Menschenrechtliche Kritik</a:t>
            </a:r>
          </a:p>
        </p:txBody>
      </p:sp>
      <p:pic>
        <p:nvPicPr>
          <p:cNvPr id="6146" name="Picture 2" descr="Konflikt - Kostenlose kommunikation-Icons">
            <a:extLst>
              <a:ext uri="{FF2B5EF4-FFF2-40B4-BE49-F238E27FC236}">
                <a16:creationId xmlns:a16="http://schemas.microsoft.com/office/drawing/2014/main" id="{0A1F3598-2CA5-3118-B454-0D8809466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1126" y="0"/>
            <a:ext cx="1440873" cy="1440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6B39656B-54A5-9BBF-203F-EF6D24D06AE7}"/>
              </a:ext>
            </a:extLst>
          </p:cNvPr>
          <p:cNvSpPr txBox="1"/>
          <p:nvPr/>
        </p:nvSpPr>
        <p:spPr>
          <a:xfrm>
            <a:off x="0" y="6596390"/>
            <a:ext cx="34259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https://www.flaticon.com/de/kostenloses-icon/konflikt_4144417</a:t>
            </a:r>
          </a:p>
        </p:txBody>
      </p:sp>
    </p:spTree>
    <p:extLst>
      <p:ext uri="{BB962C8B-B14F-4D97-AF65-F5344CB8AC3E}">
        <p14:creationId xmlns:p14="http://schemas.microsoft.com/office/powerpoint/2010/main" val="3663753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9FC4E-C22B-7AC5-EA38-45FD8DD62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58A437-F918-7D18-8A3F-C23EF71AE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Beispiel Xinjiang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7D7EE75-841E-842B-4EAE-1A0FBF54E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Autonome Region im Nordwesten Chinas</a:t>
            </a:r>
          </a:p>
          <a:p>
            <a:r>
              <a:rPr lang="de-DE" dirty="0"/>
              <a:t>Uiguren</a:t>
            </a:r>
          </a:p>
          <a:p>
            <a:r>
              <a:rPr lang="de-DE" dirty="0"/>
              <a:t>Strategisch wichtig (Grenzlage, Rohstoffe, neue Seidenstraße, …)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7009CCC-46E2-4B76-ADF7-D9FFF3601C92}"/>
              </a:ext>
            </a:extLst>
          </p:cNvPr>
          <p:cNvSpPr txBox="1"/>
          <p:nvPr/>
        </p:nvSpPr>
        <p:spPr>
          <a:xfrm>
            <a:off x="0" y="6627168"/>
            <a:ext cx="30540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https://www.bbc.com/news/world-asia-pacific-16860974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F2EB050-F024-DF78-86F6-46F61DE086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671" y="161755"/>
            <a:ext cx="4586095" cy="257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64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B6443-E9C0-BF2A-BFD4-2853E2E53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3B3D28-2649-A4C3-5427-3BE28D9A4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Beispiel Xinjiang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6A64152-2BFA-120F-D3D0-CEBF3F432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Vorwürfe der Menschenrechtsverletzung: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dirty="0"/>
              <a:t>Masseninternierung (Umerziehung)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dirty="0"/>
              <a:t>Starke Überwachung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dirty="0"/>
              <a:t>Einschränkung der religiösen Praxis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dirty="0"/>
              <a:t>Berichte über Zwangsarbeit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dirty="0"/>
              <a:t>Geburtenkontrolle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07F938B-3ABA-F281-AE0C-B9554DFD865B}"/>
              </a:ext>
            </a:extLst>
          </p:cNvPr>
          <p:cNvSpPr txBox="1"/>
          <p:nvPr/>
        </p:nvSpPr>
        <p:spPr>
          <a:xfrm>
            <a:off x="0" y="6627168"/>
            <a:ext cx="30540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https://www.bbc.com/news/world-asia-pacific-16860974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4A73D10B-1B06-1429-0ADB-AB3BF8E9B7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671" y="161755"/>
            <a:ext cx="4586095" cy="2579678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187F8999-F6CF-2DA7-36F4-83C61BDF7E3C}"/>
              </a:ext>
            </a:extLst>
          </p:cNvPr>
          <p:cNvSpPr txBox="1"/>
          <p:nvPr/>
        </p:nvSpPr>
        <p:spPr>
          <a:xfrm>
            <a:off x="838200" y="1321356"/>
            <a:ext cx="3843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Was hat die Regierung hier gemacht?</a:t>
            </a:r>
          </a:p>
        </p:txBody>
      </p:sp>
    </p:spTree>
    <p:extLst>
      <p:ext uri="{BB962C8B-B14F-4D97-AF65-F5344CB8AC3E}">
        <p14:creationId xmlns:p14="http://schemas.microsoft.com/office/powerpoint/2010/main" val="2230379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FF2CE-6C07-5CEC-F5C5-88FE7B788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E18B9D-DEDE-E978-E589-1F67557FA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Beispiel Xinjiang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814E9A3-5CD3-79EB-ECC0-4377A076E997}"/>
              </a:ext>
            </a:extLst>
          </p:cNvPr>
          <p:cNvSpPr txBox="1"/>
          <p:nvPr/>
        </p:nvSpPr>
        <p:spPr>
          <a:xfrm>
            <a:off x="0" y="6627168"/>
            <a:ext cx="30540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https://www.bbc.com/news/world-asia-pacific-16860974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45A3A05-0DE2-06A9-A028-011AA29B6E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671" y="161755"/>
            <a:ext cx="4586095" cy="2579678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5672C85A-AA18-8F89-C165-07938DF11FC4}"/>
              </a:ext>
            </a:extLst>
          </p:cNvPr>
          <p:cNvSpPr txBox="1"/>
          <p:nvPr/>
        </p:nvSpPr>
        <p:spPr>
          <a:xfrm>
            <a:off x="838200" y="1321356"/>
            <a:ext cx="3843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Was hat die Regierung hier gemacht?</a:t>
            </a:r>
          </a:p>
        </p:txBody>
      </p:sp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58D10EF6-877E-67B5-A70E-6925BE1321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9928283"/>
              </p:ext>
            </p:extLst>
          </p:nvPr>
        </p:nvGraphicFramePr>
        <p:xfrm>
          <a:off x="1527020" y="3288054"/>
          <a:ext cx="8128000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95266271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72086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Regierung Chinas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Internationale Kritik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917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Kampf gegen Terrorismus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Menschenrechtsverletzung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0520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Ausbildung &amp; Stabilität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Zwangsmaßnahmen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074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kulturelle Unterdrückung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0298439"/>
                  </a:ext>
                </a:extLst>
              </a:tr>
            </a:tbl>
          </a:graphicData>
        </a:graphic>
      </p:graphicFrame>
      <p:sp>
        <p:nvSpPr>
          <p:cNvPr id="11" name="Textfeld 10">
            <a:extLst>
              <a:ext uri="{FF2B5EF4-FFF2-40B4-BE49-F238E27FC236}">
                <a16:creationId xmlns:a16="http://schemas.microsoft.com/office/drawing/2014/main" id="{5AEF010B-54A6-E46E-3469-284301BA9E08}"/>
              </a:ext>
            </a:extLst>
          </p:cNvPr>
          <p:cNvSpPr txBox="1"/>
          <p:nvPr/>
        </p:nvSpPr>
        <p:spPr>
          <a:xfrm>
            <a:off x="1411941" y="5351978"/>
            <a:ext cx="1591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→ Streitpunkte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05A983A-4FAF-FCDE-A887-11F10469A6D4}"/>
              </a:ext>
            </a:extLst>
          </p:cNvPr>
          <p:cNvSpPr txBox="1"/>
          <p:nvPr/>
        </p:nvSpPr>
        <p:spPr>
          <a:xfrm>
            <a:off x="1411940" y="5620241"/>
            <a:ext cx="2539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→ Schwer zu überprüfen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96BB9F7-9CE9-0CC5-5867-955E10AF81C9}"/>
              </a:ext>
            </a:extLst>
          </p:cNvPr>
          <p:cNvSpPr txBox="1"/>
          <p:nvPr/>
        </p:nvSpPr>
        <p:spPr>
          <a:xfrm>
            <a:off x="1411940" y="5888504"/>
            <a:ext cx="7351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→ Differenzierung (Rückgang von Gewalt, wirtschaftliche Entwicklung, …)</a:t>
            </a:r>
          </a:p>
        </p:txBody>
      </p:sp>
    </p:spTree>
    <p:extLst>
      <p:ext uri="{BB962C8B-B14F-4D97-AF65-F5344CB8AC3E}">
        <p14:creationId xmlns:p14="http://schemas.microsoft.com/office/powerpoint/2010/main" val="3660377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C08D1-CAF3-847D-941C-9FACCF824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CC5B0B-590C-D9F4-7FAD-E9650689D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Beispiel Xinjiang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2F0DEF5-9992-27C3-727F-7EF86C1804BD}"/>
              </a:ext>
            </a:extLst>
          </p:cNvPr>
          <p:cNvSpPr txBox="1"/>
          <p:nvPr/>
        </p:nvSpPr>
        <p:spPr>
          <a:xfrm>
            <a:off x="0" y="6627168"/>
            <a:ext cx="12971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https://shahit.biz/eng/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998DB21-19A1-4E9A-E40D-26190182D965}"/>
              </a:ext>
            </a:extLst>
          </p:cNvPr>
          <p:cNvSpPr txBox="1"/>
          <p:nvPr/>
        </p:nvSpPr>
        <p:spPr>
          <a:xfrm>
            <a:off x="838200" y="1321356"/>
            <a:ext cx="3843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Was hat die Regierung hier gemacht?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59E8E52-8AB1-10BB-C2F2-B7C373BCA7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6413" y="2154814"/>
            <a:ext cx="6939174" cy="4481445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CC1DC554-6077-FA83-3552-43388445C86A}"/>
              </a:ext>
            </a:extLst>
          </p:cNvPr>
          <p:cNvSpPr txBox="1"/>
          <p:nvPr/>
        </p:nvSpPr>
        <p:spPr>
          <a:xfrm>
            <a:off x="4709242" y="1785482"/>
            <a:ext cx="2773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Xinjiang </a:t>
            </a:r>
            <a:r>
              <a:rPr lang="de-DE" dirty="0" err="1"/>
              <a:t>Victims</a:t>
            </a:r>
            <a:r>
              <a:rPr lang="de-DE" dirty="0"/>
              <a:t> Database</a:t>
            </a:r>
          </a:p>
        </p:txBody>
      </p:sp>
    </p:spTree>
    <p:extLst>
      <p:ext uri="{BB962C8B-B14F-4D97-AF65-F5344CB8AC3E}">
        <p14:creationId xmlns:p14="http://schemas.microsoft.com/office/powerpoint/2010/main" val="511675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ECBA2-6970-330A-0BF2-092C5DFDA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37578A-FE64-3F3B-DABC-874E6231B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Beispiel Xinjiang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BDA1816-DBD3-6925-8944-C2A9AADA2CB8}"/>
              </a:ext>
            </a:extLst>
          </p:cNvPr>
          <p:cNvSpPr txBox="1"/>
          <p:nvPr/>
        </p:nvSpPr>
        <p:spPr>
          <a:xfrm>
            <a:off x="0" y="6627168"/>
            <a:ext cx="12971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https://shahit.biz/eng/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9E841E3-0814-EDDE-15CE-BE057EA059DE}"/>
              </a:ext>
            </a:extLst>
          </p:cNvPr>
          <p:cNvSpPr txBox="1"/>
          <p:nvPr/>
        </p:nvSpPr>
        <p:spPr>
          <a:xfrm>
            <a:off x="838200" y="1321356"/>
            <a:ext cx="3843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Was hat die Regierung hier gemacht?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90C749F-600C-6101-2BA2-2C47ACEE838D}"/>
              </a:ext>
            </a:extLst>
          </p:cNvPr>
          <p:cNvSpPr txBox="1"/>
          <p:nvPr/>
        </p:nvSpPr>
        <p:spPr>
          <a:xfrm>
            <a:off x="4709242" y="1785482"/>
            <a:ext cx="2773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Xinjiang </a:t>
            </a:r>
            <a:r>
              <a:rPr lang="de-DE" dirty="0" err="1"/>
              <a:t>Victims</a:t>
            </a:r>
            <a:r>
              <a:rPr lang="de-DE" dirty="0"/>
              <a:t> Database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56F837C-DF3E-2198-3AF8-D5FE260E7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181" y="2249608"/>
            <a:ext cx="4753638" cy="2657846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BBCF0780-EA05-3EE4-324D-073EF370E65C}"/>
              </a:ext>
            </a:extLst>
          </p:cNvPr>
          <p:cNvSpPr/>
          <p:nvPr/>
        </p:nvSpPr>
        <p:spPr>
          <a:xfrm>
            <a:off x="5257800" y="4040841"/>
            <a:ext cx="2117912" cy="21515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6783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FA1FB-45C8-76F8-A72A-B315B6EB7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DAEA99-7E05-B507-8DA7-E178B0979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Differenzierung zu Städten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038BE4F-6F0B-78C3-9616-40F94C3985A6}"/>
              </a:ext>
            </a:extLst>
          </p:cNvPr>
          <p:cNvSpPr txBox="1"/>
          <p:nvPr/>
        </p:nvSpPr>
        <p:spPr>
          <a:xfrm>
            <a:off x="838200" y="1640541"/>
            <a:ext cx="1079126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Höhere Migration und  Durchmischung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de-DE" dirty="0"/>
              <a:t>Intrinsisch höherer Minderheitenanteil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de-DE" dirty="0"/>
              <a:t>Jobmöglichkeiten, Bildung, 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Keine Großangelegten „Umerziehungsprojekte“ oder Vergleichbares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de-DE" dirty="0"/>
              <a:t>Kontroversen sind mehr auf Grenzregionen konzentriert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Mehr „Normalität“ im Leben von Minderheiten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de-DE" dirty="0"/>
              <a:t>Untergehen in der Menge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Trotzdem: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Soziale Ungleichheiten (z.B. Einkommen, Bildungsniveaus, …)</a:t>
            </a:r>
          </a:p>
          <a:p>
            <a:r>
              <a:rPr lang="de-DE" dirty="0"/>
              <a:t>→ Keine großangelegte staatliche Repression</a:t>
            </a:r>
          </a:p>
        </p:txBody>
      </p:sp>
      <p:pic>
        <p:nvPicPr>
          <p:cNvPr id="7170" name="Picture 2" descr="28.200+ Grafiken, lizenzfreie Vektorgrafiken und Clipart zu Differentiation  Icon - iStock">
            <a:extLst>
              <a:ext uri="{FF2B5EF4-FFF2-40B4-BE49-F238E27FC236}">
                <a16:creationId xmlns:a16="http://schemas.microsoft.com/office/drawing/2014/main" id="{F390A89A-6E33-5793-47DF-E835368ACE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6306" y="0"/>
            <a:ext cx="1855694" cy="1855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C3C0C320-A37E-9FB9-B62A-676826FA19B2}"/>
              </a:ext>
            </a:extLst>
          </p:cNvPr>
          <p:cNvSpPr txBox="1"/>
          <p:nvPr/>
        </p:nvSpPr>
        <p:spPr>
          <a:xfrm>
            <a:off x="0" y="6627168"/>
            <a:ext cx="32880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https://www.istockphoto.com/de/grafiken/differentiation-icon</a:t>
            </a:r>
          </a:p>
        </p:txBody>
      </p:sp>
    </p:spTree>
    <p:extLst>
      <p:ext uri="{BB962C8B-B14F-4D97-AF65-F5344CB8AC3E}">
        <p14:creationId xmlns:p14="http://schemas.microsoft.com/office/powerpoint/2010/main" val="1637317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6E3C7-A616-67C1-CCB8-64EA3B974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44DB25-D2B8-2AA0-A6AA-F32B0492E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Quellen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73E8CBB-37D6-97E3-4B36-39DDED26727F}"/>
              </a:ext>
            </a:extLst>
          </p:cNvPr>
          <p:cNvSpPr txBox="1"/>
          <p:nvPr/>
        </p:nvSpPr>
        <p:spPr>
          <a:xfrm>
            <a:off x="838200" y="1506071"/>
            <a:ext cx="1068592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100" dirty="0">
                <a:hlinkClick r:id="rId2"/>
              </a:rPr>
              <a:t>https://www.bmi.bund.de/SharedDocs/downloads/EN/publikationen/2016/national-minorities-minority-and-regional-languages-in-germany.pdf?__blob=publicationFile</a:t>
            </a:r>
            <a:r>
              <a:rPr lang="de-DE" sz="11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100" dirty="0">
                <a:hlinkClick r:id="rId3"/>
              </a:rPr>
              <a:t>https://www.stats.gov.cn/english/InternationalTraining/202405/P020201012524513990305.pdf</a:t>
            </a:r>
            <a:r>
              <a:rPr lang="de-DE" sz="11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100" dirty="0">
                <a:hlinkClick r:id="rId3"/>
              </a:rPr>
              <a:t>https://www.stats.gov.cn/english/InternationalTraining/202405/P020201012524513990305.pdf</a:t>
            </a:r>
            <a:r>
              <a:rPr lang="de-DE" sz="11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100" dirty="0">
                <a:hlinkClick r:id="rId4"/>
              </a:rPr>
              <a:t>https://www.stats.gov.cn/english/PressRelease/202105/t20210510_1817185.html</a:t>
            </a:r>
            <a:r>
              <a:rPr lang="de-DE" sz="11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100" dirty="0">
                <a:hlinkClick r:id="rId5"/>
              </a:rPr>
              <a:t>https://arxiv.org/abs/2508.21625</a:t>
            </a:r>
            <a:endParaRPr lang="de-DE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100" dirty="0">
                <a:hlinkClick r:id="rId6"/>
              </a:rPr>
              <a:t>https://www.china-schul-akademie.de/lernmodule/mxj/</a:t>
            </a:r>
            <a:r>
              <a:rPr lang="de-DE" sz="11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35125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752</Words>
  <Application>Microsoft Office PowerPoint</Application>
  <PresentationFormat>Breitbild</PresentationFormat>
  <Paragraphs>131</Paragraphs>
  <Slides>16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Wingdings</vt:lpstr>
      <vt:lpstr>Office</vt:lpstr>
      <vt:lpstr>Minderheiten in Deutschland vs. China</vt:lpstr>
      <vt:lpstr>PowerPoint-Präsentation</vt:lpstr>
      <vt:lpstr>Ethnische Minderheiten in China</vt:lpstr>
      <vt:lpstr>Definition: ethnische Minderheit</vt:lpstr>
      <vt:lpstr>Historischer Hintergrund: Kaiserzeit</vt:lpstr>
      <vt:lpstr>Historischer Hintergrund: 20. Jahrhundert</vt:lpstr>
      <vt:lpstr>Überblick Chinas Minderheiten heute</vt:lpstr>
      <vt:lpstr>Chinas Minderheitenpolitik</vt:lpstr>
      <vt:lpstr>Konflikte und Kritik</vt:lpstr>
      <vt:lpstr>Beispiel Xinjiang</vt:lpstr>
      <vt:lpstr>Beispiel Xinjiang</vt:lpstr>
      <vt:lpstr>Beispiel Xinjiang</vt:lpstr>
      <vt:lpstr>Beispiel Xinjiang</vt:lpstr>
      <vt:lpstr>Beispiel Xinjiang</vt:lpstr>
      <vt:lpstr>Differenzierung zu Städten</vt:lpstr>
      <vt:lpstr>Quellen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Felizitas Badouin</dc:creator>
  <cp:lastModifiedBy>Felizitas Badouin</cp:lastModifiedBy>
  <cp:revision>5</cp:revision>
  <dcterms:created xsi:type="dcterms:W3CDTF">2026-02-21T15:50:46Z</dcterms:created>
  <dcterms:modified xsi:type="dcterms:W3CDTF">2026-03-05T07:59:18Z</dcterms:modified>
</cp:coreProperties>
</file>