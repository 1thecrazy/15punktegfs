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62" r:id="rId3"/>
    <p:sldId id="257" r:id="rId4"/>
    <p:sldId id="303" r:id="rId5"/>
    <p:sldId id="258" r:id="rId6"/>
    <p:sldId id="259" r:id="rId7"/>
    <p:sldId id="260" r:id="rId8"/>
    <p:sldId id="261" r:id="rId9"/>
    <p:sldId id="263" r:id="rId10"/>
    <p:sldId id="264" r:id="rId11"/>
    <p:sldId id="267" r:id="rId12"/>
    <p:sldId id="268" r:id="rId13"/>
    <p:sldId id="269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66" r:id="rId23"/>
    <p:sldId id="283" r:id="rId24"/>
    <p:sldId id="284" r:id="rId25"/>
    <p:sldId id="285" r:id="rId26"/>
    <p:sldId id="286" r:id="rId27"/>
    <p:sldId id="288" r:id="rId28"/>
    <p:sldId id="287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4" r:id="rId4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6E4E6-F836-426B-B453-59504C21FD0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F8192-9EC8-4C15-9C15-BE325A46C7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049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Summer aller Punkte mit einem Koeffizient:</a:t>
            </a:r>
          </a:p>
          <a:p>
            <a:r>
              <a:rPr lang="de-DE" dirty="0"/>
              <a:t>„gewichteter Durchschnittspunkt“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F8192-9EC8-4C15-9C15-BE325A46C771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6160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Eigentlich:</a:t>
            </a:r>
          </a:p>
          <a:p>
            <a:r>
              <a:rPr lang="de-DE" dirty="0"/>
              <a:t>Koeffizient * X Koordinatenanteil</a:t>
            </a:r>
          </a:p>
          <a:p>
            <a:r>
              <a:rPr lang="de-DE" dirty="0"/>
              <a:t>Koeffizient * Y Koordinatenanteil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F8192-9EC8-4C15-9C15-BE325A46C771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0906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 ist konstant (gibt an wie viele punkte)</a:t>
            </a:r>
          </a:p>
          <a:p>
            <a:r>
              <a:rPr lang="de-DE" dirty="0"/>
              <a:t>I ist der punkt bei dem wir grade sind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F8192-9EC8-4C15-9C15-BE325A46C771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716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26D0A7-80F1-7CA6-4106-9D5F06209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60E912-2481-E208-C89C-F3AECB242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CE541C-67AA-27BA-0186-F2E162EE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665DF5-5C8C-074F-7D83-A70FCEAC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97A6AB-5A17-35D5-A158-84BFA258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28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F5A734-887D-D44D-63A8-4B0C41D5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E3BB72-2E90-C1DC-5832-659B0063B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BEE43C-EF02-37DC-4A4A-A1E8DEAD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D158CD-A2BF-A9EE-F69A-B9A75A30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12B43F-D0FD-8153-D3A4-1E03B084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060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9BA11-58FC-9057-AD39-45F2CD4A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8520B8-7C96-54F2-BDBE-66C10C45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0A50C4-999A-F9A7-0AEF-B778B010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9D4B2E-0220-5E79-A3C2-85D59EFB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40E1F3-68B7-F522-B70A-14FC7E6B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89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22A8C9-38BC-370B-E997-8AA558E8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3BA51F-3809-8769-5CEB-AEE77E67B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8C19B82-AF12-4581-A771-D4E492360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8579AD-A55C-6CFD-27F1-27D82B69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AF7ED3-8C23-2D2E-3578-DAA02A5EA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C9CE5-6A18-A642-9AB6-067CB612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926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BECF2E-8558-6410-DD71-394BE36C4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16547C-39FA-2458-193F-7318435C8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00C105-1322-8472-AE1B-E6B3D0956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844D92F-B442-0348-23F1-BC84508C6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F53424D-4CE1-684B-94DF-8BE042165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6CD443-6E5F-766A-72AD-9A4BDCDEE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7C3CDC-F52C-5131-D403-CED39022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5083888-EA1F-F124-7995-CB0ED2A4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167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7BC58-3E82-75E0-3C79-B4D6E2BD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692469-583D-B7ED-4160-B4AF9A57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14BE7E-BBAE-FBBD-9034-5BAF76154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7DDA5F-6721-6CC9-1C25-C012ADFB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72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E07B428-9BD3-F497-FDD0-CA825544C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D44C6A6-CAEC-6D0F-2000-6620A5D9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C89673-FF49-A2E0-C273-56A9BD68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8653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BC0D9A-1BEF-AD26-4B4A-76733801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53BDAA-002D-088D-8635-C295A2D26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1845C7-5789-A24C-CAB1-5188861BC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D9ED42-6546-4656-6ED1-24FFD62E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C1C1C3-914F-3DB8-C9A9-8545DFFB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6EB71-7122-6D17-DF9C-4CD38483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299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DE008-1BD6-1325-2B94-7D6E52D8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2100273-BC94-7B3F-0DE3-CF8D7F504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B1DF27-38FA-656D-F4F7-EA9FDECA9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C5EFDD-7777-29AE-2975-546F446F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84DFD-A33B-6E76-3F4D-85227618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65D02E-93BE-B5E6-153C-31A5AD03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672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2ED70-8F89-2DD0-0A6C-D5A6D3A7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355ABE-073A-1349-4F24-EAA71DECB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836EE9-78EA-5E64-E72B-5BEB1BF2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E30796-E6F8-0D91-1420-FE839CB2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9331E0-5793-12D3-1BBB-64F1B79A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12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C3E1D4-1032-07ED-25CD-BAB136B6E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E51241-1712-5F00-53D5-238FECD91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0E5F99-239C-AB08-1C08-DAB77462B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E29755-4564-325E-B4FE-D36ED10A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52BE36-6BE4-B12D-BBA9-3D092798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96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B845571-2E63-3780-7789-71E57EB8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9206D5-7C63-08B7-9A6A-E019B0E1B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0F633-66A3-9971-BFC2-8F663AD92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80103-9F2D-47E0-BCD3-7DE30F5500DC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C7E448-0CA2-A502-3DBD-0618ED13B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63AA03-1BF2-F982-90E5-0B1267BF7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04A31-3A63-4CA3-B907-F540B08623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06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32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TheCrazy/15punktegfs" TargetMode="External"/><Relationship Id="rId2" Type="http://schemas.openxmlformats.org/officeDocument/2006/relationships/hyperlink" Target="https://15punktegfs.com/math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C72090C-629A-F982-5173-81AE81E90A77}"/>
              </a:ext>
            </a:extLst>
          </p:cNvPr>
          <p:cNvSpPr txBox="1">
            <a:spLocks/>
          </p:cNvSpPr>
          <p:nvPr/>
        </p:nvSpPr>
        <p:spPr>
          <a:xfrm>
            <a:off x="838200" y="176464"/>
            <a:ext cx="3303494" cy="1009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Umfrage</a:t>
            </a:r>
          </a:p>
        </p:txBody>
      </p:sp>
      <p:sp>
        <p:nvSpPr>
          <p:cNvPr id="8" name="Bogen 7">
            <a:extLst>
              <a:ext uri="{FF2B5EF4-FFF2-40B4-BE49-F238E27FC236}">
                <a16:creationId xmlns:a16="http://schemas.microsoft.com/office/drawing/2014/main" id="{FA247E38-C337-D781-59F2-BF69F78A187A}"/>
              </a:ext>
            </a:extLst>
          </p:cNvPr>
          <p:cNvSpPr/>
          <p:nvPr/>
        </p:nvSpPr>
        <p:spPr>
          <a:xfrm rot="16200000">
            <a:off x="1270747" y="2384269"/>
            <a:ext cx="3610535" cy="361053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FCD70E9-5319-F300-D71D-E31E2779431E}"/>
              </a:ext>
            </a:extLst>
          </p:cNvPr>
          <p:cNvSpPr txBox="1"/>
          <p:nvPr/>
        </p:nvSpPr>
        <p:spPr>
          <a:xfrm>
            <a:off x="1969995" y="1546412"/>
            <a:ext cx="4475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dirty="0"/>
              <a:t>1.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845AF0D-42F6-A460-314E-C9C097D06535}"/>
              </a:ext>
            </a:extLst>
          </p:cNvPr>
          <p:cNvSpPr txBox="1"/>
          <p:nvPr/>
        </p:nvSpPr>
        <p:spPr>
          <a:xfrm>
            <a:off x="5796021" y="1546412"/>
            <a:ext cx="4475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dirty="0"/>
              <a:t>2.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F4D2531-CAD0-BF10-8F54-0D520644018F}"/>
              </a:ext>
            </a:extLst>
          </p:cNvPr>
          <p:cNvSpPr txBox="1"/>
          <p:nvPr/>
        </p:nvSpPr>
        <p:spPr>
          <a:xfrm>
            <a:off x="9622047" y="1546412"/>
            <a:ext cx="4475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dirty="0"/>
              <a:t>3.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6E0156C-100E-5B16-1229-51097CBA7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81" y="2384269"/>
            <a:ext cx="2111038" cy="2058350"/>
          </a:xfrm>
          <a:prstGeom prst="rect">
            <a:avLst/>
          </a:prstGeom>
        </p:spPr>
      </p:pic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7F1301DC-3AA6-7E31-F774-C0CA5F2D455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740589" y="2384269"/>
            <a:ext cx="2131361" cy="2058350"/>
          </a:xfrm>
          <a:prstGeom prst="bentConnector3">
            <a:avLst>
              <a:gd name="adj1" fmla="val 995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11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42E87-C4FD-0A50-31E6-1F2628E7D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E963574-C198-F66D-6CAF-A1112026B9F9}"/>
              </a:ext>
            </a:extLst>
          </p:cNvPr>
          <p:cNvSpPr txBox="1">
            <a:spLocks/>
          </p:cNvSpPr>
          <p:nvPr/>
        </p:nvSpPr>
        <p:spPr>
          <a:xfrm>
            <a:off x="838200" y="2924427"/>
            <a:ext cx="10515600" cy="1009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Bézier Kurven</a:t>
            </a:r>
          </a:p>
        </p:txBody>
      </p:sp>
    </p:spTree>
    <p:extLst>
      <p:ext uri="{BB962C8B-B14F-4D97-AF65-F5344CB8AC3E}">
        <p14:creationId xmlns:p14="http://schemas.microsoft.com/office/powerpoint/2010/main" val="825902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D67488-BD28-6488-1EC5-8CEA29613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de-DE" dirty="0"/>
              <a:t>Geschichte</a:t>
            </a:r>
          </a:p>
          <a:p>
            <a:pPr marL="571500" indent="-571500">
              <a:buFont typeface="+mj-lt"/>
              <a:buAutoNum type="romanUcPeriod"/>
            </a:pPr>
            <a:r>
              <a:rPr lang="de-DE" dirty="0"/>
              <a:t>Generelle Form</a:t>
            </a:r>
          </a:p>
          <a:p>
            <a:pPr marL="571500" indent="-571500">
              <a:buFont typeface="+mj-lt"/>
              <a:buAutoNum type="romanUcPeriod"/>
            </a:pPr>
            <a:r>
              <a:rPr lang="de-DE" dirty="0"/>
              <a:t>Bernstein Polynom</a:t>
            </a:r>
          </a:p>
          <a:p>
            <a:pPr marL="571500" indent="-571500">
              <a:buFont typeface="+mj-lt"/>
              <a:buAutoNum type="romanUcPeriod"/>
            </a:pPr>
            <a:r>
              <a:rPr lang="de-DE" dirty="0"/>
              <a:t>Zurück in Bézier Kurven</a:t>
            </a:r>
          </a:p>
          <a:p>
            <a:pPr marL="571500" indent="-571500">
              <a:buFont typeface="+mj-lt"/>
              <a:buAutoNum type="romanUcPeriod"/>
            </a:pPr>
            <a:r>
              <a:rPr lang="de-DE" dirty="0"/>
              <a:t>Anwendungen von Bézier Kurven</a:t>
            </a:r>
          </a:p>
          <a:p>
            <a:pPr marL="571500" indent="-571500">
              <a:buFont typeface="+mj-lt"/>
              <a:buAutoNum type="romanUcPeriod"/>
            </a:pPr>
            <a:r>
              <a:rPr lang="de-DE" dirty="0"/>
              <a:t>Bézier Kurven im Programmcode</a:t>
            </a:r>
          </a:p>
          <a:p>
            <a:pPr marL="571500" indent="-571500">
              <a:buFont typeface="+mj-lt"/>
              <a:buAutoNum type="romanUcPeriod"/>
            </a:pP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ACF8169-96D8-018D-AB8E-D91638FD2B17}"/>
              </a:ext>
            </a:extLst>
          </p:cNvPr>
          <p:cNvSpPr txBox="1">
            <a:spLocks/>
          </p:cNvSpPr>
          <p:nvPr/>
        </p:nvSpPr>
        <p:spPr>
          <a:xfrm>
            <a:off x="838200" y="176464"/>
            <a:ext cx="4976766" cy="1009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Bézier Kurven</a:t>
            </a:r>
          </a:p>
        </p:txBody>
      </p:sp>
    </p:spTree>
    <p:extLst>
      <p:ext uri="{BB962C8B-B14F-4D97-AF65-F5344CB8AC3E}">
        <p14:creationId xmlns:p14="http://schemas.microsoft.com/office/powerpoint/2010/main" val="675387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F822-5620-B31A-D0EF-2B0A68E6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47945-28CC-5199-2094-70F1DD88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Geschichte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4262D7A-8CC8-C235-5158-626DD41500FC}"/>
              </a:ext>
            </a:extLst>
          </p:cNvPr>
          <p:cNvSpPr txBox="1"/>
          <p:nvPr/>
        </p:nvSpPr>
        <p:spPr>
          <a:xfrm>
            <a:off x="838200" y="1435100"/>
            <a:ext cx="1508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dirty="0"/>
              <a:t>Pierre Bézier</a:t>
            </a:r>
            <a:endParaRPr lang="de-DE" i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4DE983B-C59D-3420-8AD8-17E26CA39BF7}"/>
              </a:ext>
            </a:extLst>
          </p:cNvPr>
          <p:cNvSpPr txBox="1"/>
          <p:nvPr/>
        </p:nvSpPr>
        <p:spPr>
          <a:xfrm>
            <a:off x="838200" y="2354521"/>
            <a:ext cx="6252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Entwickelte in den 1960er Jahren das Verfahren für die Kurven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1FD1193-8564-61AF-DFED-AC153F5716E6}"/>
                  </a:ext>
                </a:extLst>
              </p:cNvPr>
              <p:cNvSpPr txBox="1"/>
              <p:nvPr/>
            </p:nvSpPr>
            <p:spPr>
              <a:xfrm>
                <a:off x="1164866" y="2632916"/>
                <a:ext cx="19881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1FD1193-8564-61AF-DFED-AC153F571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866" y="2632916"/>
                <a:ext cx="198812" cy="276999"/>
              </a:xfrm>
              <a:prstGeom prst="rect">
                <a:avLst/>
              </a:prstGeom>
              <a:blipFill>
                <a:blip r:embed="rId2"/>
                <a:stretch>
                  <a:fillRect l="-24242" r="-30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5E6B767A-7EBF-CC42-8E9B-70B2E991BE96}"/>
              </a:ext>
            </a:extLst>
          </p:cNvPr>
          <p:cNvSpPr txBox="1"/>
          <p:nvPr/>
        </p:nvSpPr>
        <p:spPr>
          <a:xfrm>
            <a:off x="1363678" y="2575997"/>
            <a:ext cx="10637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Benutzte es für das erstellen von </a:t>
            </a:r>
            <a:r>
              <a:rPr lang="de-DE" b="1" i="1" dirty="0"/>
              <a:t>aerodynamischen</a:t>
            </a:r>
            <a:r>
              <a:rPr lang="de-DE" dirty="0"/>
              <a:t> und </a:t>
            </a:r>
            <a:r>
              <a:rPr lang="de-DE" b="1" i="1" dirty="0"/>
              <a:t>ästhetisch anspruchsvollen </a:t>
            </a:r>
            <a:r>
              <a:rPr lang="de-DE" dirty="0"/>
              <a:t>Auto-Karosserien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DFC3E6F-206C-B75F-4C54-926C99518EEB}"/>
              </a:ext>
            </a:extLst>
          </p:cNvPr>
          <p:cNvSpPr txBox="1"/>
          <p:nvPr/>
        </p:nvSpPr>
        <p:spPr>
          <a:xfrm>
            <a:off x="838199" y="1837938"/>
            <a:ext cx="5757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Arbeitete bei dem Autohersteller „Renault“ in Frankreich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913B8BE-B998-F25D-564C-65896E4C043B}"/>
              </a:ext>
            </a:extLst>
          </p:cNvPr>
          <p:cNvSpPr txBox="1"/>
          <p:nvPr/>
        </p:nvSpPr>
        <p:spPr>
          <a:xfrm>
            <a:off x="838200" y="2945329"/>
            <a:ext cx="9540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Veröffentlichte das Verfahren, weswegen das Verfahren heute unter seinem Namen bekannt ist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9E698A2-2D41-D253-318F-6FF73BE37639}"/>
              </a:ext>
            </a:extLst>
          </p:cNvPr>
          <p:cNvSpPr txBox="1"/>
          <p:nvPr/>
        </p:nvSpPr>
        <p:spPr>
          <a:xfrm>
            <a:off x="838200" y="4064000"/>
            <a:ext cx="2023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dirty="0"/>
              <a:t>Paul de </a:t>
            </a:r>
            <a:r>
              <a:rPr lang="de-DE" b="1" i="1" dirty="0" err="1"/>
              <a:t>Casteljau</a:t>
            </a:r>
            <a:endParaRPr lang="de-DE" i="1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9B37376-B0AD-CB44-F94A-B9B191C72F41}"/>
              </a:ext>
            </a:extLst>
          </p:cNvPr>
          <p:cNvSpPr txBox="1"/>
          <p:nvPr/>
        </p:nvSpPr>
        <p:spPr>
          <a:xfrm>
            <a:off x="838200" y="4983421"/>
            <a:ext cx="789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Entwickelte in den 1960er Jahren ein anderes Verfahren für die gleichen Kurven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900B0AE-16A4-2AEE-F7D0-29058FCB6C0E}"/>
              </a:ext>
            </a:extLst>
          </p:cNvPr>
          <p:cNvSpPr txBox="1"/>
          <p:nvPr/>
        </p:nvSpPr>
        <p:spPr>
          <a:xfrm>
            <a:off x="838199" y="4466838"/>
            <a:ext cx="5759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Arbeitete bei dem Autohersteller „Citroën“ in Frankreich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6E806CE-CBCB-C878-A85A-4C648FAEEC15}"/>
              </a:ext>
            </a:extLst>
          </p:cNvPr>
          <p:cNvSpPr txBox="1"/>
          <p:nvPr/>
        </p:nvSpPr>
        <p:spPr>
          <a:xfrm>
            <a:off x="838200" y="5574229"/>
            <a:ext cx="4428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Veröffentlichte das Verfahren erstmal nicht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663A373C-3F34-F45C-BEC7-A3E279C3819D}"/>
                  </a:ext>
                </a:extLst>
              </p:cNvPr>
              <p:cNvSpPr txBox="1"/>
              <p:nvPr/>
            </p:nvSpPr>
            <p:spPr>
              <a:xfrm>
                <a:off x="1164866" y="5273096"/>
                <a:ext cx="19881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663A373C-3F34-F45C-BEC7-A3E279C38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866" y="5273096"/>
                <a:ext cx="198812" cy="276999"/>
              </a:xfrm>
              <a:prstGeom prst="rect">
                <a:avLst/>
              </a:prstGeom>
              <a:blipFill>
                <a:blip r:embed="rId3"/>
                <a:stretch>
                  <a:fillRect l="-24242" r="-30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feld 16">
            <a:extLst>
              <a:ext uri="{FF2B5EF4-FFF2-40B4-BE49-F238E27FC236}">
                <a16:creationId xmlns:a16="http://schemas.microsoft.com/office/drawing/2014/main" id="{56A50991-54EB-1C44-2CB1-F04ED525D276}"/>
              </a:ext>
            </a:extLst>
          </p:cNvPr>
          <p:cNvSpPr txBox="1"/>
          <p:nvPr/>
        </p:nvSpPr>
        <p:spPr>
          <a:xfrm>
            <a:off x="1363678" y="5216177"/>
            <a:ext cx="1009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„de </a:t>
            </a:r>
            <a:r>
              <a:rPr lang="de-DE" dirty="0" err="1"/>
              <a:t>Casteljau</a:t>
            </a:r>
            <a:r>
              <a:rPr lang="de-DE" dirty="0"/>
              <a:t> Algorithmus“ (heute sehr oft verwendet)</a:t>
            </a:r>
          </a:p>
        </p:txBody>
      </p:sp>
    </p:spTree>
    <p:extLst>
      <p:ext uri="{BB962C8B-B14F-4D97-AF65-F5344CB8AC3E}">
        <p14:creationId xmlns:p14="http://schemas.microsoft.com/office/powerpoint/2010/main" val="199390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FE1A1-A394-7210-F7D4-0E9F2B61F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EBAD5B1-AB4F-3C2D-AAAA-CE49EF1A9BA7}"/>
                  </a:ext>
                </a:extLst>
              </p:cNvPr>
              <p:cNvSpPr txBox="1"/>
              <p:nvPr/>
            </p:nvSpPr>
            <p:spPr>
              <a:xfrm>
                <a:off x="838200" y="2059435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EBAD5B1-AB4F-3C2D-AAAA-CE49EF1A9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59435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FE0FAA9D-B1B4-BD50-262F-39817FC6F0E3}"/>
              </a:ext>
            </a:extLst>
          </p:cNvPr>
          <p:cNvSpPr txBox="1"/>
          <p:nvPr/>
        </p:nvSpPr>
        <p:spPr>
          <a:xfrm>
            <a:off x="968188" y="2999942"/>
            <a:ext cx="7249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Wir haben: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i="1" dirty="0"/>
              <a:t>(n + 1)</a:t>
            </a:r>
            <a:r>
              <a:rPr lang="de-DE" dirty="0"/>
              <a:t>-viele Kontrollpunkte (einschließlich End- und Startpunkt → + 1)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Lange Formel</a:t>
            </a:r>
          </a:p>
        </p:txBody>
      </p:sp>
    </p:spTree>
    <p:extLst>
      <p:ext uri="{BB962C8B-B14F-4D97-AF65-F5344CB8AC3E}">
        <p14:creationId xmlns:p14="http://schemas.microsoft.com/office/powerpoint/2010/main" val="197470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9C7E-66A7-4D29-3A8C-EC5BE31A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EA5C3-0F67-E25A-5C7A-CC0DB2D72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7B69A9B-E892-3346-210C-7D41155ABB3D}"/>
                  </a:ext>
                </a:extLst>
              </p:cNvPr>
              <p:cNvSpPr txBox="1"/>
              <p:nvPr/>
            </p:nvSpPr>
            <p:spPr>
              <a:xfrm>
                <a:off x="838200" y="2059435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3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7B69A9B-E892-3346-210C-7D41155AB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59435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906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1AA8-4D7D-980D-E783-E9530A23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4D99B-DF1D-65F2-6035-7830CA2D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06F2943-BF5B-87C0-04DC-6F1C3E1967D0}"/>
                  </a:ext>
                </a:extLst>
              </p:cNvPr>
              <p:cNvSpPr txBox="1"/>
              <p:nvPr/>
            </p:nvSpPr>
            <p:spPr>
              <a:xfrm>
                <a:off x="3909732" y="3050787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3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06F2943-BF5B-87C0-04DC-6F1C3E196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732" y="3050787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B0B1DD3-AC4A-F51C-2E39-033CF8A2FFEC}"/>
              </a:ext>
            </a:extLst>
          </p:cNvPr>
          <p:cNvCxnSpPr>
            <a:cxnSpLocks/>
          </p:cNvCxnSpPr>
          <p:nvPr/>
        </p:nvCxnSpPr>
        <p:spPr>
          <a:xfrm flipV="1">
            <a:off x="4128654" y="3609109"/>
            <a:ext cx="0" cy="1343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D9A7629A-ED96-D3E6-6762-7C92D2461D50}"/>
              </a:ext>
            </a:extLst>
          </p:cNvPr>
          <p:cNvSpPr txBox="1"/>
          <p:nvPr/>
        </p:nvSpPr>
        <p:spPr>
          <a:xfrm>
            <a:off x="3155372" y="4953000"/>
            <a:ext cx="194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Bézier „Funktion“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C21D056-0189-2FF8-0DE0-FFDF484CD24C}"/>
              </a:ext>
            </a:extLst>
          </p:cNvPr>
          <p:cNvCxnSpPr>
            <a:cxnSpLocks/>
          </p:cNvCxnSpPr>
          <p:nvPr/>
        </p:nvCxnSpPr>
        <p:spPr>
          <a:xfrm>
            <a:off x="4308764" y="2507673"/>
            <a:ext cx="0" cy="769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335E7742-2257-783A-02F1-B72011C38BD7}"/>
              </a:ext>
            </a:extLst>
          </p:cNvPr>
          <p:cNvSpPr txBox="1"/>
          <p:nvPr/>
        </p:nvSpPr>
        <p:spPr>
          <a:xfrm>
            <a:off x="3603914" y="2138341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Parameter t</a:t>
            </a:r>
          </a:p>
        </p:txBody>
      </p: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BA90116D-5B83-A050-D8C9-277C81002012}"/>
              </a:ext>
            </a:extLst>
          </p:cNvPr>
          <p:cNvCxnSpPr>
            <a:cxnSpLocks/>
            <a:endCxn id="17" idx="3"/>
          </p:cNvCxnSpPr>
          <p:nvPr/>
        </p:nvCxnSpPr>
        <p:spPr>
          <a:xfrm rot="10800000">
            <a:off x="5013614" y="2323008"/>
            <a:ext cx="2952750" cy="953811"/>
          </a:xfrm>
          <a:prstGeom prst="bentConnector3">
            <a:avLst>
              <a:gd name="adj1" fmla="val -20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738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B6B4-193D-7A26-12C8-299B3610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69AB95-4485-A206-F01B-4C9E11B27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CC91659-3F12-A1E7-0DA3-785E8E9E3B67}"/>
              </a:ext>
            </a:extLst>
          </p:cNvPr>
          <p:cNvSpPr/>
          <p:nvPr/>
        </p:nvSpPr>
        <p:spPr>
          <a:xfrm>
            <a:off x="3220532" y="5250873"/>
            <a:ext cx="121163" cy="124691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8569968-939E-FEC5-9B1D-8CD568194108}"/>
              </a:ext>
            </a:extLst>
          </p:cNvPr>
          <p:cNvSpPr/>
          <p:nvPr/>
        </p:nvSpPr>
        <p:spPr>
          <a:xfrm>
            <a:off x="8846127" y="4362728"/>
            <a:ext cx="121163" cy="124691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0B1BDDB3-6D25-A4ED-2317-324CCA2C8BCD}"/>
              </a:ext>
            </a:extLst>
          </p:cNvPr>
          <p:cNvSpPr/>
          <p:nvPr/>
        </p:nvSpPr>
        <p:spPr>
          <a:xfrm>
            <a:off x="3283527" y="3474583"/>
            <a:ext cx="5562600" cy="1776290"/>
          </a:xfrm>
          <a:custGeom>
            <a:avLst/>
            <a:gdLst>
              <a:gd name="connsiteX0" fmla="*/ 0 w 5562600"/>
              <a:gd name="connsiteY0" fmla="*/ 1776290 h 1776290"/>
              <a:gd name="connsiteX1" fmla="*/ 1565564 w 5562600"/>
              <a:gd name="connsiteY1" fmla="*/ 23690 h 1776290"/>
              <a:gd name="connsiteX2" fmla="*/ 5562600 w 5562600"/>
              <a:gd name="connsiteY2" fmla="*/ 924235 h 177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2600" h="1776290">
                <a:moveTo>
                  <a:pt x="0" y="1776290"/>
                </a:moveTo>
                <a:cubicBezTo>
                  <a:pt x="319232" y="970994"/>
                  <a:pt x="638464" y="165699"/>
                  <a:pt x="1565564" y="23690"/>
                </a:cubicBezTo>
                <a:cubicBezTo>
                  <a:pt x="2492664" y="-118319"/>
                  <a:pt x="4027632" y="402958"/>
                  <a:pt x="5562600" y="92423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3A777A2C-730C-9CFA-CE5C-4E2B1381C944}"/>
              </a:ext>
            </a:extLst>
          </p:cNvPr>
          <p:cNvSpPr/>
          <p:nvPr/>
        </p:nvSpPr>
        <p:spPr>
          <a:xfrm>
            <a:off x="3338945" y="4468091"/>
            <a:ext cx="5507182" cy="971440"/>
          </a:xfrm>
          <a:custGeom>
            <a:avLst/>
            <a:gdLst>
              <a:gd name="connsiteX0" fmla="*/ 0 w 5507182"/>
              <a:gd name="connsiteY0" fmla="*/ 831273 h 971440"/>
              <a:gd name="connsiteX1" fmla="*/ 1032164 w 5507182"/>
              <a:gd name="connsiteY1" fmla="*/ 955964 h 971440"/>
              <a:gd name="connsiteX2" fmla="*/ 2050473 w 5507182"/>
              <a:gd name="connsiteY2" fmla="*/ 519545 h 971440"/>
              <a:gd name="connsiteX3" fmla="*/ 3622964 w 5507182"/>
              <a:gd name="connsiteY3" fmla="*/ 671945 h 971440"/>
              <a:gd name="connsiteX4" fmla="*/ 5507182 w 5507182"/>
              <a:gd name="connsiteY4" fmla="*/ 0 h 97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07182" h="971440">
                <a:moveTo>
                  <a:pt x="0" y="831273"/>
                </a:moveTo>
                <a:cubicBezTo>
                  <a:pt x="345209" y="919596"/>
                  <a:pt x="690419" y="1007919"/>
                  <a:pt x="1032164" y="955964"/>
                </a:cubicBezTo>
                <a:cubicBezTo>
                  <a:pt x="1373910" y="904009"/>
                  <a:pt x="1618673" y="566881"/>
                  <a:pt x="2050473" y="519545"/>
                </a:cubicBezTo>
                <a:cubicBezTo>
                  <a:pt x="2482273" y="472209"/>
                  <a:pt x="3046846" y="758536"/>
                  <a:pt x="3622964" y="671945"/>
                </a:cubicBezTo>
                <a:cubicBezTo>
                  <a:pt x="4199082" y="585354"/>
                  <a:pt x="4853132" y="292677"/>
                  <a:pt x="5507182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04CDB5BB-E5C1-E35E-CE2A-D4C245A8DF96}"/>
              </a:ext>
            </a:extLst>
          </p:cNvPr>
          <p:cNvSpPr/>
          <p:nvPr/>
        </p:nvSpPr>
        <p:spPr>
          <a:xfrm>
            <a:off x="3304309" y="4495800"/>
            <a:ext cx="6287815" cy="1818914"/>
          </a:xfrm>
          <a:custGeom>
            <a:avLst/>
            <a:gdLst>
              <a:gd name="connsiteX0" fmla="*/ 0 w 6287815"/>
              <a:gd name="connsiteY0" fmla="*/ 879764 h 1818914"/>
              <a:gd name="connsiteX1" fmla="*/ 5777346 w 6287815"/>
              <a:gd name="connsiteY1" fmla="*/ 1794164 h 1818914"/>
              <a:gd name="connsiteX2" fmla="*/ 5631873 w 6287815"/>
              <a:gd name="connsiteY2" fmla="*/ 0 h 181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7815" h="1818914">
                <a:moveTo>
                  <a:pt x="0" y="879764"/>
                </a:moveTo>
                <a:cubicBezTo>
                  <a:pt x="2419350" y="1410277"/>
                  <a:pt x="4838701" y="1940791"/>
                  <a:pt x="5777346" y="1794164"/>
                </a:cubicBezTo>
                <a:cubicBezTo>
                  <a:pt x="6715991" y="1647537"/>
                  <a:pt x="6173932" y="823768"/>
                  <a:pt x="5631873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F5318BB-519F-7A44-689D-1EDA769224C7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3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F5318BB-519F-7A44-689D-1EDA76922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615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5" grpId="0" animBg="1"/>
      <p:bldP spid="1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B7E9-3CA9-B8D3-A467-8B78584A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32F409-9760-B984-D8A3-8385A780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B1A4D75-F792-9FC8-6D21-177B2FA24D9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B1A4D75-F792-9FC8-6D21-177B2FA24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lipse 3">
            <a:extLst>
              <a:ext uri="{FF2B5EF4-FFF2-40B4-BE49-F238E27FC236}">
                <a16:creationId xmlns:a16="http://schemas.microsoft.com/office/drawing/2014/main" id="{4B65FD84-5956-23D1-0FA0-FEA305E6FDEC}"/>
              </a:ext>
            </a:extLst>
          </p:cNvPr>
          <p:cNvSpPr/>
          <p:nvPr/>
        </p:nvSpPr>
        <p:spPr>
          <a:xfrm>
            <a:off x="3220532" y="5250873"/>
            <a:ext cx="121163" cy="124691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B6A7769-5EDF-29BD-6D0B-A7D4949E3077}"/>
              </a:ext>
            </a:extLst>
          </p:cNvPr>
          <p:cNvSpPr/>
          <p:nvPr/>
        </p:nvSpPr>
        <p:spPr>
          <a:xfrm>
            <a:off x="8846127" y="4362728"/>
            <a:ext cx="121163" cy="124691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A35629B7-7D5B-BDFA-2FEE-C8E1D2F7623B}"/>
              </a:ext>
            </a:extLst>
          </p:cNvPr>
          <p:cNvSpPr/>
          <p:nvPr/>
        </p:nvSpPr>
        <p:spPr>
          <a:xfrm>
            <a:off x="3283527" y="3474583"/>
            <a:ext cx="5562600" cy="1776290"/>
          </a:xfrm>
          <a:custGeom>
            <a:avLst/>
            <a:gdLst>
              <a:gd name="connsiteX0" fmla="*/ 0 w 5562600"/>
              <a:gd name="connsiteY0" fmla="*/ 1776290 h 1776290"/>
              <a:gd name="connsiteX1" fmla="*/ 1565564 w 5562600"/>
              <a:gd name="connsiteY1" fmla="*/ 23690 h 1776290"/>
              <a:gd name="connsiteX2" fmla="*/ 5562600 w 5562600"/>
              <a:gd name="connsiteY2" fmla="*/ 924235 h 177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2600" h="1776290">
                <a:moveTo>
                  <a:pt x="0" y="1776290"/>
                </a:moveTo>
                <a:cubicBezTo>
                  <a:pt x="319232" y="970994"/>
                  <a:pt x="638464" y="165699"/>
                  <a:pt x="1565564" y="23690"/>
                </a:cubicBezTo>
                <a:cubicBezTo>
                  <a:pt x="2492664" y="-118319"/>
                  <a:pt x="4027632" y="402958"/>
                  <a:pt x="5562600" y="92423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497A4AC7-68C1-912C-BE60-BF5414217327}"/>
              </a:ext>
            </a:extLst>
          </p:cNvPr>
          <p:cNvSpPr/>
          <p:nvPr/>
        </p:nvSpPr>
        <p:spPr>
          <a:xfrm>
            <a:off x="3338945" y="4468091"/>
            <a:ext cx="5507182" cy="971440"/>
          </a:xfrm>
          <a:custGeom>
            <a:avLst/>
            <a:gdLst>
              <a:gd name="connsiteX0" fmla="*/ 0 w 5507182"/>
              <a:gd name="connsiteY0" fmla="*/ 831273 h 971440"/>
              <a:gd name="connsiteX1" fmla="*/ 1032164 w 5507182"/>
              <a:gd name="connsiteY1" fmla="*/ 955964 h 971440"/>
              <a:gd name="connsiteX2" fmla="*/ 2050473 w 5507182"/>
              <a:gd name="connsiteY2" fmla="*/ 519545 h 971440"/>
              <a:gd name="connsiteX3" fmla="*/ 3622964 w 5507182"/>
              <a:gd name="connsiteY3" fmla="*/ 671945 h 971440"/>
              <a:gd name="connsiteX4" fmla="*/ 5507182 w 5507182"/>
              <a:gd name="connsiteY4" fmla="*/ 0 h 97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07182" h="971440">
                <a:moveTo>
                  <a:pt x="0" y="831273"/>
                </a:moveTo>
                <a:cubicBezTo>
                  <a:pt x="345209" y="919596"/>
                  <a:pt x="690419" y="1007919"/>
                  <a:pt x="1032164" y="955964"/>
                </a:cubicBezTo>
                <a:cubicBezTo>
                  <a:pt x="1373910" y="904009"/>
                  <a:pt x="1618673" y="566881"/>
                  <a:pt x="2050473" y="519545"/>
                </a:cubicBezTo>
                <a:cubicBezTo>
                  <a:pt x="2482273" y="472209"/>
                  <a:pt x="3046846" y="758536"/>
                  <a:pt x="3622964" y="671945"/>
                </a:cubicBezTo>
                <a:cubicBezTo>
                  <a:pt x="4199082" y="585354"/>
                  <a:pt x="4853132" y="292677"/>
                  <a:pt x="5507182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181EAA1-6EAC-9788-BFB1-390C7BC88AD9}"/>
              </a:ext>
            </a:extLst>
          </p:cNvPr>
          <p:cNvSpPr/>
          <p:nvPr/>
        </p:nvSpPr>
        <p:spPr>
          <a:xfrm>
            <a:off x="3304309" y="4495800"/>
            <a:ext cx="6287815" cy="1818914"/>
          </a:xfrm>
          <a:custGeom>
            <a:avLst/>
            <a:gdLst>
              <a:gd name="connsiteX0" fmla="*/ 0 w 6287815"/>
              <a:gd name="connsiteY0" fmla="*/ 879764 h 1818914"/>
              <a:gd name="connsiteX1" fmla="*/ 5777346 w 6287815"/>
              <a:gd name="connsiteY1" fmla="*/ 1794164 h 1818914"/>
              <a:gd name="connsiteX2" fmla="*/ 5631873 w 6287815"/>
              <a:gd name="connsiteY2" fmla="*/ 0 h 181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7815" h="1818914">
                <a:moveTo>
                  <a:pt x="0" y="879764"/>
                </a:moveTo>
                <a:cubicBezTo>
                  <a:pt x="2419350" y="1410277"/>
                  <a:pt x="4838701" y="1940791"/>
                  <a:pt x="5777346" y="1794164"/>
                </a:cubicBezTo>
                <a:cubicBezTo>
                  <a:pt x="6715991" y="1647537"/>
                  <a:pt x="6173932" y="823768"/>
                  <a:pt x="5631873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6533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13E48-F047-16F1-2CC8-5C9B0940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19B3E-565C-5DBA-6A15-FAAF0E94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A145BE4E-4303-5946-27BC-A5FA102FE09A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A145BE4E-4303-5946-27BC-A5FA102FE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lipse 3">
            <a:extLst>
              <a:ext uri="{FF2B5EF4-FFF2-40B4-BE49-F238E27FC236}">
                <a16:creationId xmlns:a16="http://schemas.microsoft.com/office/drawing/2014/main" id="{0ACDB620-A3D8-CF86-B062-1CF466C57D4D}"/>
              </a:ext>
            </a:extLst>
          </p:cNvPr>
          <p:cNvSpPr/>
          <p:nvPr/>
        </p:nvSpPr>
        <p:spPr>
          <a:xfrm>
            <a:off x="3220532" y="5250873"/>
            <a:ext cx="121163" cy="124691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21CE002-1F8A-4FF4-8705-A51B797DCD36}"/>
              </a:ext>
            </a:extLst>
          </p:cNvPr>
          <p:cNvSpPr/>
          <p:nvPr/>
        </p:nvSpPr>
        <p:spPr>
          <a:xfrm>
            <a:off x="8846127" y="4362728"/>
            <a:ext cx="121163" cy="124691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D5EDDBA8-5C86-C429-C251-7E2858E40FF5}"/>
              </a:ext>
            </a:extLst>
          </p:cNvPr>
          <p:cNvSpPr/>
          <p:nvPr/>
        </p:nvSpPr>
        <p:spPr>
          <a:xfrm>
            <a:off x="3283527" y="3474583"/>
            <a:ext cx="5562600" cy="1776290"/>
          </a:xfrm>
          <a:custGeom>
            <a:avLst/>
            <a:gdLst>
              <a:gd name="connsiteX0" fmla="*/ 0 w 5562600"/>
              <a:gd name="connsiteY0" fmla="*/ 1776290 h 1776290"/>
              <a:gd name="connsiteX1" fmla="*/ 1565564 w 5562600"/>
              <a:gd name="connsiteY1" fmla="*/ 23690 h 1776290"/>
              <a:gd name="connsiteX2" fmla="*/ 5562600 w 5562600"/>
              <a:gd name="connsiteY2" fmla="*/ 924235 h 177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2600" h="1776290">
                <a:moveTo>
                  <a:pt x="0" y="1776290"/>
                </a:moveTo>
                <a:cubicBezTo>
                  <a:pt x="319232" y="970994"/>
                  <a:pt x="638464" y="165699"/>
                  <a:pt x="1565564" y="23690"/>
                </a:cubicBezTo>
                <a:cubicBezTo>
                  <a:pt x="2492664" y="-118319"/>
                  <a:pt x="4027632" y="402958"/>
                  <a:pt x="5562600" y="924235"/>
                </a:cubicBez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B6E24182-0F0A-E8D1-9ADD-C1B44E16AA31}"/>
              </a:ext>
            </a:extLst>
          </p:cNvPr>
          <p:cNvSpPr/>
          <p:nvPr/>
        </p:nvSpPr>
        <p:spPr>
          <a:xfrm>
            <a:off x="3338945" y="4468091"/>
            <a:ext cx="5507182" cy="971440"/>
          </a:xfrm>
          <a:custGeom>
            <a:avLst/>
            <a:gdLst>
              <a:gd name="connsiteX0" fmla="*/ 0 w 5507182"/>
              <a:gd name="connsiteY0" fmla="*/ 831273 h 971440"/>
              <a:gd name="connsiteX1" fmla="*/ 1032164 w 5507182"/>
              <a:gd name="connsiteY1" fmla="*/ 955964 h 971440"/>
              <a:gd name="connsiteX2" fmla="*/ 2050473 w 5507182"/>
              <a:gd name="connsiteY2" fmla="*/ 519545 h 971440"/>
              <a:gd name="connsiteX3" fmla="*/ 3622964 w 5507182"/>
              <a:gd name="connsiteY3" fmla="*/ 671945 h 971440"/>
              <a:gd name="connsiteX4" fmla="*/ 5507182 w 5507182"/>
              <a:gd name="connsiteY4" fmla="*/ 0 h 97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07182" h="971440">
                <a:moveTo>
                  <a:pt x="0" y="831273"/>
                </a:moveTo>
                <a:cubicBezTo>
                  <a:pt x="345209" y="919596"/>
                  <a:pt x="690419" y="1007919"/>
                  <a:pt x="1032164" y="955964"/>
                </a:cubicBezTo>
                <a:cubicBezTo>
                  <a:pt x="1373910" y="904009"/>
                  <a:pt x="1618673" y="566881"/>
                  <a:pt x="2050473" y="519545"/>
                </a:cubicBezTo>
                <a:cubicBezTo>
                  <a:pt x="2482273" y="472209"/>
                  <a:pt x="3046846" y="758536"/>
                  <a:pt x="3622964" y="671945"/>
                </a:cubicBezTo>
                <a:cubicBezTo>
                  <a:pt x="4199082" y="585354"/>
                  <a:pt x="4853132" y="292677"/>
                  <a:pt x="5507182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1452763B-7A09-DA2C-7210-FC1D63AB0089}"/>
              </a:ext>
            </a:extLst>
          </p:cNvPr>
          <p:cNvSpPr/>
          <p:nvPr/>
        </p:nvSpPr>
        <p:spPr>
          <a:xfrm>
            <a:off x="3304309" y="4495800"/>
            <a:ext cx="6287815" cy="1818914"/>
          </a:xfrm>
          <a:custGeom>
            <a:avLst/>
            <a:gdLst>
              <a:gd name="connsiteX0" fmla="*/ 0 w 6287815"/>
              <a:gd name="connsiteY0" fmla="*/ 879764 h 1818914"/>
              <a:gd name="connsiteX1" fmla="*/ 5777346 w 6287815"/>
              <a:gd name="connsiteY1" fmla="*/ 1794164 h 1818914"/>
              <a:gd name="connsiteX2" fmla="*/ 5631873 w 6287815"/>
              <a:gd name="connsiteY2" fmla="*/ 0 h 181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7815" h="1818914">
                <a:moveTo>
                  <a:pt x="0" y="879764"/>
                </a:moveTo>
                <a:cubicBezTo>
                  <a:pt x="2419350" y="1410277"/>
                  <a:pt x="4838701" y="1940791"/>
                  <a:pt x="5777346" y="1794164"/>
                </a:cubicBezTo>
                <a:cubicBezTo>
                  <a:pt x="6715991" y="1647537"/>
                  <a:pt x="6173932" y="823768"/>
                  <a:pt x="5631873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3C407CB-37BF-D410-9DEC-88E25EC69159}"/>
              </a:ext>
            </a:extLst>
          </p:cNvPr>
          <p:cNvSpPr txBox="1"/>
          <p:nvPr/>
        </p:nvSpPr>
        <p:spPr>
          <a:xfrm>
            <a:off x="2971800" y="531321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45EC75C-9157-6400-CF0A-FEC115CF0468}"/>
              </a:ext>
            </a:extLst>
          </p:cNvPr>
          <p:cNvSpPr txBox="1"/>
          <p:nvPr/>
        </p:nvSpPr>
        <p:spPr>
          <a:xfrm>
            <a:off x="8906708" y="405574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BA193BF-544F-AB68-48E3-672CFB392233}"/>
              </a:ext>
            </a:extLst>
          </p:cNvPr>
          <p:cNvSpPr txBox="1"/>
          <p:nvPr/>
        </p:nvSpPr>
        <p:spPr>
          <a:xfrm>
            <a:off x="5543516" y="3198751"/>
            <a:ext cx="54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0,5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92DCF08-C305-B10C-9ED9-6967C4047231}"/>
              </a:ext>
            </a:extLst>
          </p:cNvPr>
          <p:cNvSpPr txBox="1"/>
          <p:nvPr/>
        </p:nvSpPr>
        <p:spPr>
          <a:xfrm>
            <a:off x="3162364" y="4125115"/>
            <a:ext cx="54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0,2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8A6BAD-4F98-92B0-D973-F22CE81FFEBB}"/>
              </a:ext>
            </a:extLst>
          </p:cNvPr>
          <p:cNvSpPr txBox="1"/>
          <p:nvPr/>
        </p:nvSpPr>
        <p:spPr>
          <a:xfrm>
            <a:off x="7413946" y="3612734"/>
            <a:ext cx="54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0,8</a:t>
            </a:r>
          </a:p>
        </p:txBody>
      </p:sp>
    </p:spTree>
    <p:extLst>
      <p:ext uri="{BB962C8B-B14F-4D97-AF65-F5344CB8AC3E}">
        <p14:creationId xmlns:p14="http://schemas.microsoft.com/office/powerpoint/2010/main" val="1450194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0AB8-820F-419B-4BD4-EBF899F2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820354-623C-25BB-56DB-78C018E9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58F743E-5DC1-3C42-B0D6-1F9EE6A8910A}"/>
                  </a:ext>
                </a:extLst>
              </p:cNvPr>
              <p:cNvSpPr txBox="1"/>
              <p:nvPr/>
            </p:nvSpPr>
            <p:spPr>
              <a:xfrm>
                <a:off x="3909732" y="3050787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3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58F743E-5DC1-3C42-B0D6-1F9EE6A89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732" y="3050787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B3D874A-0779-5991-609C-5AB204F9E2D8}"/>
              </a:ext>
            </a:extLst>
          </p:cNvPr>
          <p:cNvCxnSpPr>
            <a:cxnSpLocks/>
          </p:cNvCxnSpPr>
          <p:nvPr/>
        </p:nvCxnSpPr>
        <p:spPr>
          <a:xfrm>
            <a:off x="4890655" y="3872345"/>
            <a:ext cx="0" cy="1018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F1968D05-826E-4CDE-F6BC-6A3492E53590}"/>
              </a:ext>
            </a:extLst>
          </p:cNvPr>
          <p:cNvSpPr txBox="1"/>
          <p:nvPr/>
        </p:nvSpPr>
        <p:spPr>
          <a:xfrm>
            <a:off x="3955475" y="4890655"/>
            <a:ext cx="214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„Summenzeichen“</a:t>
            </a:r>
          </a:p>
        </p:txBody>
      </p:sp>
    </p:spTree>
    <p:extLst>
      <p:ext uri="{BB962C8B-B14F-4D97-AF65-F5344CB8AC3E}">
        <p14:creationId xmlns:p14="http://schemas.microsoft.com/office/powerpoint/2010/main" val="3337221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DBC3-D39D-CE32-DD47-63D5ECFF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8BEAAD-11E8-7E85-D634-009F234E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D84FC6A-8E6F-1BEF-44C8-8DDA974EF7FE}"/>
                  </a:ext>
                </a:extLst>
              </p:cNvPr>
              <p:cNvSpPr txBox="1"/>
              <p:nvPr/>
            </p:nvSpPr>
            <p:spPr>
              <a:xfrm>
                <a:off x="1679150" y="1690688"/>
                <a:ext cx="544504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D84FC6A-8E6F-1BEF-44C8-8DDA974EF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150" y="1690688"/>
                <a:ext cx="544504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05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F416-15C0-F8B7-8574-220F3F9A2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53EE0E-D11E-2E1B-B0C0-676A13DD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2AFC8BA-8952-C928-5F28-A05BA5FB8275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2AFC8BA-8952-C928-5F28-A05BA5FB8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56DA3AD0-61F4-8F9A-E7C5-70FDEF21CB8E}"/>
              </a:ext>
            </a:extLst>
          </p:cNvPr>
          <p:cNvCxnSpPr>
            <a:cxnSpLocks/>
          </p:cNvCxnSpPr>
          <p:nvPr/>
        </p:nvCxnSpPr>
        <p:spPr>
          <a:xfrm>
            <a:off x="2025184" y="2437939"/>
            <a:ext cx="867998" cy="1004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236BD0B-2B0C-AE61-8B4D-3E28D73AEAF0}"/>
              </a:ext>
            </a:extLst>
          </p:cNvPr>
          <p:cNvCxnSpPr>
            <a:cxnSpLocks/>
          </p:cNvCxnSpPr>
          <p:nvPr/>
        </p:nvCxnSpPr>
        <p:spPr>
          <a:xfrm>
            <a:off x="1951403" y="1745673"/>
            <a:ext cx="12282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FBAD9A70-2AF7-264F-E5E3-162C701C91B5}"/>
              </a:ext>
            </a:extLst>
          </p:cNvPr>
          <p:cNvSpPr txBox="1"/>
          <p:nvPr/>
        </p:nvSpPr>
        <p:spPr>
          <a:xfrm>
            <a:off x="3179619" y="1561007"/>
            <a:ext cx="164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„Maximum“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CE5D037-56CD-AE3C-5670-68EA5646DCAD}"/>
              </a:ext>
            </a:extLst>
          </p:cNvPr>
          <p:cNvSpPr txBox="1"/>
          <p:nvPr/>
        </p:nvSpPr>
        <p:spPr>
          <a:xfrm>
            <a:off x="2731765" y="3366655"/>
            <a:ext cx="1308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„Startwert“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F4D7428C-C2F6-8F4D-B612-C98A2DE9A13D}"/>
              </a:ext>
            </a:extLst>
          </p:cNvPr>
          <p:cNvCxnSpPr>
            <a:cxnSpLocks/>
          </p:cNvCxnSpPr>
          <p:nvPr/>
        </p:nvCxnSpPr>
        <p:spPr>
          <a:xfrm>
            <a:off x="1792074" y="2437939"/>
            <a:ext cx="516291" cy="1390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E01BC5F6-4287-7FD4-C343-A0D8B1CAD989}"/>
              </a:ext>
            </a:extLst>
          </p:cNvPr>
          <p:cNvSpPr txBox="1"/>
          <p:nvPr/>
        </p:nvSpPr>
        <p:spPr>
          <a:xfrm>
            <a:off x="2146948" y="3751933"/>
            <a:ext cx="140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„Laufindex“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B1BB270-63FC-7B7D-C9E0-559BD4E0890C}"/>
              </a:ext>
            </a:extLst>
          </p:cNvPr>
          <p:cNvCxnSpPr>
            <a:cxnSpLocks/>
          </p:cNvCxnSpPr>
          <p:nvPr/>
        </p:nvCxnSpPr>
        <p:spPr>
          <a:xfrm>
            <a:off x="2308365" y="2094499"/>
            <a:ext cx="1176053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4A2E062F-CE86-224E-000F-A37EAFDAA2B7}"/>
              </a:ext>
            </a:extLst>
          </p:cNvPr>
          <p:cNvSpPr txBox="1"/>
          <p:nvPr/>
        </p:nvSpPr>
        <p:spPr>
          <a:xfrm>
            <a:off x="3484418" y="2094499"/>
            <a:ext cx="164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„Summand“</a:t>
            </a:r>
          </a:p>
        </p:txBody>
      </p:sp>
    </p:spTree>
    <p:extLst>
      <p:ext uri="{BB962C8B-B14F-4D97-AF65-F5344CB8AC3E}">
        <p14:creationId xmlns:p14="http://schemas.microsoft.com/office/powerpoint/2010/main" val="43469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6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BA230-D740-62E8-C267-7BE925CD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70F4E-7F31-75A0-89A0-B6E139AE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EB9A2D5-3A59-E061-637A-F60B763B5E4C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EB9A2D5-3A59-E061-637A-F60B763B5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DF2859BC-C67B-3E54-5377-42B66ACE4653}"/>
              </a:ext>
            </a:extLst>
          </p:cNvPr>
          <p:cNvSpPr txBox="1"/>
          <p:nvPr/>
        </p:nvSpPr>
        <p:spPr>
          <a:xfrm>
            <a:off x="2263570" y="1864448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 </a:t>
            </a:r>
          </a:p>
        </p:txBody>
      </p:sp>
    </p:spTree>
    <p:extLst>
      <p:ext uri="{BB962C8B-B14F-4D97-AF65-F5344CB8AC3E}">
        <p14:creationId xmlns:p14="http://schemas.microsoft.com/office/powerpoint/2010/main" val="1770599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537F-252A-A500-4F93-3DE6A210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C34C2-452D-84C2-DE32-A53D3873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BEA9A09-49A4-7F31-1CFF-B6768E9B4D86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BEA9A09-49A4-7F31-1CFF-B6768E9B4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56B1681D-A1E9-2CF0-B0AE-B8E6EF9014EA}"/>
              </a:ext>
            </a:extLst>
          </p:cNvPr>
          <p:cNvSpPr txBox="1"/>
          <p:nvPr/>
        </p:nvSpPr>
        <p:spPr>
          <a:xfrm>
            <a:off x="2263570" y="186444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 1² </a:t>
            </a:r>
          </a:p>
        </p:txBody>
      </p:sp>
    </p:spTree>
    <p:extLst>
      <p:ext uri="{BB962C8B-B14F-4D97-AF65-F5344CB8AC3E}">
        <p14:creationId xmlns:p14="http://schemas.microsoft.com/office/powerpoint/2010/main" val="319711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D54C9-7A90-9E8E-8E15-61018EE3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C642A-52B8-C4AF-8576-09024F61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AB608C96-0946-273C-CC7D-9E2845B23465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AB608C96-0946-273C-CC7D-9E2845B23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CB493877-EB42-93A9-0BCF-105EB21F9646}"/>
              </a:ext>
            </a:extLst>
          </p:cNvPr>
          <p:cNvSpPr txBox="1"/>
          <p:nvPr/>
        </p:nvSpPr>
        <p:spPr>
          <a:xfrm>
            <a:off x="2263570" y="186444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 1² + 2² </a:t>
            </a:r>
          </a:p>
        </p:txBody>
      </p:sp>
    </p:spTree>
    <p:extLst>
      <p:ext uri="{BB962C8B-B14F-4D97-AF65-F5344CB8AC3E}">
        <p14:creationId xmlns:p14="http://schemas.microsoft.com/office/powerpoint/2010/main" val="1873041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D1D0-017A-6FF7-4D5C-CF521B38C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BAF99-B738-7ED5-44BB-63D6A5B9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25640CC-7610-0D15-F8E4-F845B98332E7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25640CC-7610-0D15-F8E4-F845B9833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EC42FB85-1BC2-1789-E742-657EA66D1548}"/>
              </a:ext>
            </a:extLst>
          </p:cNvPr>
          <p:cNvSpPr txBox="1"/>
          <p:nvPr/>
        </p:nvSpPr>
        <p:spPr>
          <a:xfrm>
            <a:off x="2263570" y="186444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 1² + 2² + 3² </a:t>
            </a:r>
          </a:p>
        </p:txBody>
      </p:sp>
    </p:spTree>
    <p:extLst>
      <p:ext uri="{BB962C8B-B14F-4D97-AF65-F5344CB8AC3E}">
        <p14:creationId xmlns:p14="http://schemas.microsoft.com/office/powerpoint/2010/main" val="1341884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D103C-4921-2E12-B0BA-CC5A7A11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D07E47-FAC1-52AD-D4E3-425D1858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B45A095-F111-4B93-F3DD-BAB5D5B4FF17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B45A095-F111-4B93-F3DD-BAB5D5B4F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342E9CC1-1B31-6176-8FDE-A2AE1C6D11CA}"/>
              </a:ext>
            </a:extLst>
          </p:cNvPr>
          <p:cNvSpPr txBox="1"/>
          <p:nvPr/>
        </p:nvSpPr>
        <p:spPr>
          <a:xfrm>
            <a:off x="2263570" y="1864448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 1² + 2² + 3² + 4² </a:t>
            </a:r>
          </a:p>
        </p:txBody>
      </p:sp>
    </p:spTree>
    <p:extLst>
      <p:ext uri="{BB962C8B-B14F-4D97-AF65-F5344CB8AC3E}">
        <p14:creationId xmlns:p14="http://schemas.microsoft.com/office/powerpoint/2010/main" val="3850074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AB96-9804-616A-A8F7-194A8EC97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8AD05-EA88-8768-4A7A-7C6AAC3C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82BA365C-5B4C-05E6-0C9F-105B6E6FDD09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82BA365C-5B4C-05E6-0C9F-105B6E6FD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DC89F38D-A65E-B06F-E688-652B16FC8649}"/>
              </a:ext>
            </a:extLst>
          </p:cNvPr>
          <p:cNvSpPr txBox="1"/>
          <p:nvPr/>
        </p:nvSpPr>
        <p:spPr>
          <a:xfrm>
            <a:off x="2263570" y="1864448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 1 + 4 + 9 + 16 </a:t>
            </a:r>
          </a:p>
        </p:txBody>
      </p:sp>
    </p:spTree>
    <p:extLst>
      <p:ext uri="{BB962C8B-B14F-4D97-AF65-F5344CB8AC3E}">
        <p14:creationId xmlns:p14="http://schemas.microsoft.com/office/powerpoint/2010/main" val="3811610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16B8-08EF-EFD8-9359-541E3A69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71FAC5-A41D-8295-3933-AB88A21A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8DF9EF60-98C8-FAE0-25D4-351B0363963F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nn-NO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8DF9EF60-98C8-FAE0-25D4-351B03639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3CC5401D-D069-55C5-271B-A55A85F2388C}"/>
              </a:ext>
            </a:extLst>
          </p:cNvPr>
          <p:cNvSpPr txBox="1"/>
          <p:nvPr/>
        </p:nvSpPr>
        <p:spPr>
          <a:xfrm>
            <a:off x="2263570" y="1864448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 1 + 4 + 9 + 16 = 30</a:t>
            </a:r>
          </a:p>
        </p:txBody>
      </p:sp>
    </p:spTree>
    <p:extLst>
      <p:ext uri="{BB962C8B-B14F-4D97-AF65-F5344CB8AC3E}">
        <p14:creationId xmlns:p14="http://schemas.microsoft.com/office/powerpoint/2010/main" val="537188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9971C-1D44-62F2-4122-A0DA1771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0BAFB-A224-BC10-54B3-9294C2C2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A37C88B-0271-A9D5-9DE9-43009D8B8A16}"/>
                  </a:ext>
                </a:extLst>
              </p:cNvPr>
              <p:cNvSpPr txBox="1"/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nn-NO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...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A37C88B-0271-A9D5-9DE9-43009D8B8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9" y="1660290"/>
                <a:ext cx="784870" cy="777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26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D9A6-18EF-4DDE-41B0-8A4CDF28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836B4-2B47-C6A3-46FE-BF070394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F2B0AEB-8C1D-322A-1EFC-28C6D53293E1}"/>
                  </a:ext>
                </a:extLst>
              </p:cNvPr>
              <p:cNvSpPr txBox="1"/>
              <p:nvPr/>
            </p:nvSpPr>
            <p:spPr>
              <a:xfrm>
                <a:off x="3909732" y="3050787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3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F2B0AEB-8C1D-322A-1EFC-28C6D5329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732" y="3050787"/>
                <a:ext cx="4372536" cy="756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FF650EB-4C15-C903-8ED5-B83DD46ED819}"/>
              </a:ext>
            </a:extLst>
          </p:cNvPr>
          <p:cNvCxnSpPr>
            <a:cxnSpLocks/>
          </p:cNvCxnSpPr>
          <p:nvPr/>
        </p:nvCxnSpPr>
        <p:spPr>
          <a:xfrm>
            <a:off x="6858000" y="2611582"/>
            <a:ext cx="0" cy="658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3FB0C60-007C-B07A-0404-50F8CB727B08}"/>
              </a:ext>
            </a:extLst>
          </p:cNvPr>
          <p:cNvCxnSpPr>
            <a:cxnSpLocks/>
          </p:cNvCxnSpPr>
          <p:nvPr/>
        </p:nvCxnSpPr>
        <p:spPr>
          <a:xfrm flipH="1" flipV="1">
            <a:off x="6968836" y="3577936"/>
            <a:ext cx="457201" cy="1783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485D1C89-02F2-D45F-89B5-2A25770EE9B2}"/>
              </a:ext>
            </a:extLst>
          </p:cNvPr>
          <p:cNvSpPr txBox="1"/>
          <p:nvPr/>
        </p:nvSpPr>
        <p:spPr>
          <a:xfrm>
            <a:off x="6373091" y="2168236"/>
            <a:ext cx="98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Punkt P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7E930E8-8B02-353E-0074-2C0801D2C77B}"/>
              </a:ext>
            </a:extLst>
          </p:cNvPr>
          <p:cNvSpPr txBox="1"/>
          <p:nvPr/>
        </p:nvSpPr>
        <p:spPr>
          <a:xfrm>
            <a:off x="7072747" y="5313218"/>
            <a:ext cx="90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Index i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5DF03CF-EA5C-E9D9-429F-73117BD013D5}"/>
              </a:ext>
            </a:extLst>
          </p:cNvPr>
          <p:cNvCxnSpPr>
            <a:cxnSpLocks/>
          </p:cNvCxnSpPr>
          <p:nvPr/>
        </p:nvCxnSpPr>
        <p:spPr>
          <a:xfrm>
            <a:off x="5056909" y="3807213"/>
            <a:ext cx="2015838" cy="1506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252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42D4D-CFA3-76C4-CA88-A9D87F4A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6E862-5591-8399-BF07-952C0A88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0614138-974F-9D8D-E165-AE8390CFB4FE}"/>
                  </a:ext>
                </a:extLst>
              </p:cNvPr>
              <p:cNvSpPr txBox="1"/>
              <p:nvPr/>
            </p:nvSpPr>
            <p:spPr>
              <a:xfrm>
                <a:off x="3909732" y="3050787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3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0614138-974F-9D8D-E165-AE8390CFB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732" y="3050787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eschweifte Klammer links 2">
            <a:extLst>
              <a:ext uri="{FF2B5EF4-FFF2-40B4-BE49-F238E27FC236}">
                <a16:creationId xmlns:a16="http://schemas.microsoft.com/office/drawing/2014/main" id="{EACDBB7D-2C67-6A48-D7FA-A972FFC956BC}"/>
              </a:ext>
            </a:extLst>
          </p:cNvPr>
          <p:cNvSpPr/>
          <p:nvPr/>
        </p:nvSpPr>
        <p:spPr>
          <a:xfrm rot="16200000">
            <a:off x="5858522" y="2987571"/>
            <a:ext cx="203778" cy="1593479"/>
          </a:xfrm>
          <a:prstGeom prst="leftBrace">
            <a:avLst>
              <a:gd name="adj1" fmla="val 8333"/>
              <a:gd name="adj2" fmla="val 5042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A24A36B-06A6-8111-EDE8-81607657D880}"/>
              </a:ext>
            </a:extLst>
          </p:cNvPr>
          <p:cNvCxnSpPr>
            <a:cxnSpLocks/>
          </p:cNvCxnSpPr>
          <p:nvPr/>
        </p:nvCxnSpPr>
        <p:spPr>
          <a:xfrm flipV="1">
            <a:off x="5325035" y="2454088"/>
            <a:ext cx="0" cy="726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A1BD2B77-C130-7624-8A89-BA34118366F9}"/>
              </a:ext>
            </a:extLst>
          </p:cNvPr>
          <p:cNvSpPr txBox="1"/>
          <p:nvPr/>
        </p:nvSpPr>
        <p:spPr>
          <a:xfrm>
            <a:off x="4309783" y="2137656"/>
            <a:ext cx="23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„Binomial-Koeffizient“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3F208E9-DFF6-D555-3D84-3747501EBE9A}"/>
              </a:ext>
            </a:extLst>
          </p:cNvPr>
          <p:cNvSpPr txBox="1"/>
          <p:nvPr/>
        </p:nvSpPr>
        <p:spPr>
          <a:xfrm>
            <a:off x="5163671" y="3886200"/>
            <a:ext cx="175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Random Zahlen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C48410A-9ECE-63F0-45BB-F395401E6643}"/>
                  </a:ext>
                </a:extLst>
              </p:cNvPr>
              <p:cNvSpPr txBox="1"/>
              <p:nvPr/>
            </p:nvSpPr>
            <p:spPr>
              <a:xfrm>
                <a:off x="6716249" y="1997265"/>
                <a:ext cx="1980157" cy="650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de-D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! </m:t>
                          </m:r>
                          <m:d>
                            <m:dPr>
                              <m:ctrlPr>
                                <a:rPr lang="de-DE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C48410A-9ECE-63F0-45BB-F395401E6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249" y="1997265"/>
                <a:ext cx="1980157" cy="650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96CA61B-4398-1A15-C45C-F7F1A02D4F39}"/>
              </a:ext>
            </a:extLst>
          </p:cNvPr>
          <p:cNvCxnSpPr>
            <a:cxnSpLocks/>
          </p:cNvCxnSpPr>
          <p:nvPr/>
        </p:nvCxnSpPr>
        <p:spPr>
          <a:xfrm flipV="1">
            <a:off x="5361669" y="2585975"/>
            <a:ext cx="1610631" cy="939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446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CE6-CA94-4325-A46E-9F5882DD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08B1AC-DDA2-EFAD-680C-B2C01381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3EB5939-263E-727C-7751-EB2416B32FB4}"/>
              </a:ext>
            </a:extLst>
          </p:cNvPr>
          <p:cNvSpPr txBox="1"/>
          <p:nvPr/>
        </p:nvSpPr>
        <p:spPr>
          <a:xfrm>
            <a:off x="838200" y="1690688"/>
            <a:ext cx="7857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„Wir wollen viele Punkte erstellen die zusammen eine Linie („Kurve“) ergeben“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E257C9-C9E6-75A8-0155-6E886932136B}"/>
              </a:ext>
            </a:extLst>
          </p:cNvPr>
          <p:cNvSpPr txBox="1"/>
          <p:nvPr/>
        </p:nvSpPr>
        <p:spPr>
          <a:xfrm>
            <a:off x="838200" y="2253567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 = (x | 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C061BC7-E907-629F-013A-1ED9E4738A81}"/>
                  </a:ext>
                </a:extLst>
              </p:cNvPr>
              <p:cNvSpPr txBox="1"/>
              <p:nvPr/>
            </p:nvSpPr>
            <p:spPr>
              <a:xfrm>
                <a:off x="2867585" y="2060020"/>
                <a:ext cx="4372536" cy="75642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C061BC7-E907-629F-013A-1ED9E4738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585" y="2060020"/>
                <a:ext cx="4372536" cy="756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20622CC9-1155-3ADD-4BB8-4F45052B9BF7}"/>
              </a:ext>
            </a:extLst>
          </p:cNvPr>
          <p:cNvSpPr txBox="1"/>
          <p:nvPr/>
        </p:nvSpPr>
        <p:spPr>
          <a:xfrm>
            <a:off x="5681382" y="29338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?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BBC2C20-5606-63E2-9F8B-4BDEE75B40C0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5831423" y="2555664"/>
            <a:ext cx="0" cy="378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FC4DD15-600D-B790-C311-E6F6AFA15EF4}"/>
                  </a:ext>
                </a:extLst>
              </p:cNvPr>
              <p:cNvSpPr txBox="1"/>
              <p:nvPr/>
            </p:nvSpPr>
            <p:spPr>
              <a:xfrm>
                <a:off x="742949" y="3663342"/>
                <a:ext cx="5519909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FC4DD15-600D-B790-C311-E6F6AFA15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9" y="3663342"/>
                <a:ext cx="5519909" cy="7564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>
            <a:extLst>
              <a:ext uri="{FF2B5EF4-FFF2-40B4-BE49-F238E27FC236}">
                <a16:creationId xmlns:a16="http://schemas.microsoft.com/office/drawing/2014/main" id="{52A11F79-8F9C-48F3-4CF7-59767D3A2A1C}"/>
              </a:ext>
            </a:extLst>
          </p:cNvPr>
          <p:cNvSpPr txBox="1"/>
          <p:nvPr/>
        </p:nvSpPr>
        <p:spPr>
          <a:xfrm>
            <a:off x="2498908" y="5167312"/>
            <a:ext cx="1964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Ortsvektor / Punkt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CA714288-5C5B-A6BB-AFE4-1860E4425C97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2198594" y="4289451"/>
            <a:ext cx="1282603" cy="87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C5F7452-6472-F89A-92CB-5083B3CC07FF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3481197" y="4289451"/>
            <a:ext cx="1158038" cy="87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529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 animBg="1"/>
      <p:bldP spid="13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14DA2-7219-BBA0-FC6B-6E11A627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163EEF-DE46-90EE-E63C-AACB41AD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C33C8C6-11B7-6B6A-4283-10DAD478BDA3}"/>
                  </a:ext>
                </a:extLst>
              </p:cNvPr>
              <p:cNvSpPr txBox="1"/>
              <p:nvPr/>
            </p:nvSpPr>
            <p:spPr>
              <a:xfrm>
                <a:off x="3909732" y="1690688"/>
                <a:ext cx="4372536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3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accent3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r>
                            <a:rPr lang="de-DE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C33C8C6-11B7-6B6A-4283-10DAD478B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732" y="1690688"/>
                <a:ext cx="437253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AFF8F0B-CE30-FC3E-F50C-05EE48FAB6A5}"/>
                  </a:ext>
                </a:extLst>
              </p:cNvPr>
              <p:cNvSpPr txBox="1"/>
              <p:nvPr/>
            </p:nvSpPr>
            <p:spPr>
              <a:xfrm>
                <a:off x="4518211" y="2940079"/>
                <a:ext cx="2585477" cy="1125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dirty="0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dirty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dirty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dirty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i="1" dirty="0" smtClean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de-DE" i="1" dirty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i="1" dirty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AFF8F0B-CE30-FC3E-F50C-05EE48FAB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211" y="2940079"/>
                <a:ext cx="2585477" cy="1125757"/>
              </a:xfrm>
              <a:prstGeom prst="rect">
                <a:avLst/>
              </a:prstGeom>
              <a:blipFill>
                <a:blip r:embed="rId3"/>
                <a:stretch>
                  <a:fillRect l="-1887" b="-70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5AA97B46-15B4-0594-659F-0DFEC3207D7A}"/>
              </a:ext>
            </a:extLst>
          </p:cNvPr>
          <p:cNvSpPr/>
          <p:nvPr/>
        </p:nvSpPr>
        <p:spPr>
          <a:xfrm rot="16200000">
            <a:off x="5584436" y="1966554"/>
            <a:ext cx="756427" cy="15621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51664DDF-9D42-2A6E-829F-A738B4D520F6}"/>
              </a:ext>
            </a:extLst>
          </p:cNvPr>
          <p:cNvCxnSpPr>
            <a:cxnSpLocks/>
          </p:cNvCxnSpPr>
          <p:nvPr/>
        </p:nvCxnSpPr>
        <p:spPr>
          <a:xfrm flipV="1">
            <a:off x="5962649" y="3618783"/>
            <a:ext cx="0" cy="5901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6F6C6DBB-4BF2-8D3D-98DC-11C356A542E1}"/>
              </a:ext>
            </a:extLst>
          </p:cNvPr>
          <p:cNvSpPr txBox="1"/>
          <p:nvPr/>
        </p:nvSpPr>
        <p:spPr>
          <a:xfrm>
            <a:off x="3942160" y="4189469"/>
            <a:ext cx="4040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„Random Zahlen“ = Bernstein Polynom</a:t>
            </a:r>
          </a:p>
        </p:txBody>
      </p:sp>
    </p:spTree>
    <p:extLst>
      <p:ext uri="{BB962C8B-B14F-4D97-AF65-F5344CB8AC3E}">
        <p14:creationId xmlns:p14="http://schemas.microsoft.com/office/powerpoint/2010/main" val="2460488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5E29A-0C80-3088-081C-C47094B6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DC8FC-5C24-458E-7C4B-D4E92353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II. Generelle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B216D0F-66EE-3E3D-50C8-11D641BDEEDA}"/>
                  </a:ext>
                </a:extLst>
              </p:cNvPr>
              <p:cNvSpPr txBox="1"/>
              <p:nvPr/>
            </p:nvSpPr>
            <p:spPr>
              <a:xfrm>
                <a:off x="4518211" y="2940079"/>
                <a:ext cx="2585477" cy="1125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dirty="0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dirty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dirty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 dirty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i="1" dirty="0" smtClean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dirty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de-DE" i="1" dirty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de-DE" i="1" dirty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B216D0F-66EE-3E3D-50C8-11D641BD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211" y="2940079"/>
                <a:ext cx="2585477" cy="11257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2CF7286-E0E8-2416-CB4F-9A16F63108FF}"/>
              </a:ext>
            </a:extLst>
          </p:cNvPr>
          <p:cNvCxnSpPr>
            <a:cxnSpLocks/>
          </p:cNvCxnSpPr>
          <p:nvPr/>
        </p:nvCxnSpPr>
        <p:spPr>
          <a:xfrm flipV="1">
            <a:off x="5962649" y="3618783"/>
            <a:ext cx="0" cy="5901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8202F200-655A-7263-2D6C-49F8B8C7B422}"/>
              </a:ext>
            </a:extLst>
          </p:cNvPr>
          <p:cNvSpPr txBox="1"/>
          <p:nvPr/>
        </p:nvSpPr>
        <p:spPr>
          <a:xfrm>
            <a:off x="3201348" y="4208929"/>
            <a:ext cx="552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„Gewicht Jedes Kontrollpunktes in Abhängigkeit von t“</a:t>
            </a:r>
          </a:p>
        </p:txBody>
      </p: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67935E10-3A3D-87C3-C8AD-530069E50F4D}"/>
              </a:ext>
            </a:extLst>
          </p:cNvPr>
          <p:cNvCxnSpPr>
            <a:cxnSpLocks/>
          </p:cNvCxnSpPr>
          <p:nvPr/>
        </p:nvCxnSpPr>
        <p:spPr>
          <a:xfrm>
            <a:off x="3341594" y="4578261"/>
            <a:ext cx="221877" cy="143093"/>
          </a:xfrm>
          <a:prstGeom prst="bentConnector3">
            <a:avLst>
              <a:gd name="adj1" fmla="val 45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0CB79681-4768-D4BD-4CEC-80EB198EAAAD}"/>
              </a:ext>
            </a:extLst>
          </p:cNvPr>
          <p:cNvSpPr txBox="1"/>
          <p:nvPr/>
        </p:nvSpPr>
        <p:spPr>
          <a:xfrm>
            <a:off x="3563471" y="4536688"/>
            <a:ext cx="6422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„Wie viel trägt ein Kontrollpunkt zum resultierenden Punkt bei?“</a:t>
            </a:r>
          </a:p>
        </p:txBody>
      </p:sp>
    </p:spTree>
    <p:extLst>
      <p:ext uri="{BB962C8B-B14F-4D97-AF65-F5344CB8AC3E}">
        <p14:creationId xmlns:p14="http://schemas.microsoft.com/office/powerpoint/2010/main" val="25747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198BB-7EBF-C321-99A7-0870EE68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6C612-ABCE-A987-3118-32239128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D52CF93-D97C-1FDA-BDEC-1E9B79268810}"/>
                  </a:ext>
                </a:extLst>
              </p:cNvPr>
              <p:cNvSpPr txBox="1"/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D52CF93-D97C-1FDA-BDEC-1E9B79268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227F5D8C-6D54-6AD3-6527-302AEF173AD6}"/>
              </a:ext>
            </a:extLst>
          </p:cNvPr>
          <p:cNvSpPr txBox="1"/>
          <p:nvPr/>
        </p:nvSpPr>
        <p:spPr>
          <a:xfrm>
            <a:off x="897591" y="2359959"/>
            <a:ext cx="85282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Eigenschaften: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Summe ( </a:t>
            </a:r>
            <a:r>
              <a:rPr lang="de-DE" b="1" i="1" dirty="0"/>
              <a:t>∑</a:t>
            </a:r>
            <a:r>
              <a:rPr lang="de-DE" dirty="0"/>
              <a:t> ) ist </a:t>
            </a:r>
            <a:r>
              <a:rPr lang="de-DE" b="1" i="1" dirty="0"/>
              <a:t>gleich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Bei t = 0 befinden wir uns am </a:t>
            </a:r>
            <a:r>
              <a:rPr lang="de-DE" b="1" i="1" dirty="0"/>
              <a:t>Startpunkt</a:t>
            </a:r>
            <a:r>
              <a:rPr lang="de-DE" dirty="0"/>
              <a:t>, bei t = 1 am </a:t>
            </a:r>
            <a:r>
              <a:rPr lang="de-DE" b="1" i="1" dirty="0"/>
              <a:t>Endpunkt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Die finale Kurve befindet sich innerhalb der „</a:t>
            </a:r>
            <a:r>
              <a:rPr lang="de-DE" b="1" i="1" dirty="0"/>
              <a:t>konvexen Hülle</a:t>
            </a:r>
            <a:r>
              <a:rPr lang="de-DE" dirty="0"/>
              <a:t>“ der Kontrollpunkte</a:t>
            </a:r>
          </a:p>
        </p:txBody>
      </p:sp>
    </p:spTree>
    <p:extLst>
      <p:ext uri="{BB962C8B-B14F-4D97-AF65-F5344CB8AC3E}">
        <p14:creationId xmlns:p14="http://schemas.microsoft.com/office/powerpoint/2010/main" val="3167164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E4D59-B79E-8988-8CCB-3BEBA60E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A8D29-8DD7-D713-8F69-4620138EA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2CADF1C-BFFC-46CF-D5B5-A5901E6C80E4}"/>
                  </a:ext>
                </a:extLst>
              </p:cNvPr>
              <p:cNvSpPr txBox="1"/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2CADF1C-BFFC-46CF-D5B5-A5901E6C8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5A6952C5-936D-299F-ED0F-F87B627A5E83}"/>
              </a:ext>
            </a:extLst>
          </p:cNvPr>
          <p:cNvSpPr txBox="1"/>
          <p:nvPr/>
        </p:nvSpPr>
        <p:spPr>
          <a:xfrm>
            <a:off x="838200" y="2165049"/>
            <a:ext cx="485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Summe ( </a:t>
            </a:r>
            <a:r>
              <a:rPr lang="de-DE" b="1" i="1" dirty="0"/>
              <a:t>∑</a:t>
            </a:r>
            <a:r>
              <a:rPr lang="de-DE" dirty="0"/>
              <a:t> ) ist </a:t>
            </a:r>
            <a:r>
              <a:rPr lang="de-DE" b="1" i="1" dirty="0"/>
              <a:t>gleich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680518C-517E-60F2-2230-6A38CF53B9F5}"/>
                  </a:ext>
                </a:extLst>
              </p:cNvPr>
              <p:cNvSpPr txBox="1"/>
              <p:nvPr/>
            </p:nvSpPr>
            <p:spPr>
              <a:xfrm>
                <a:off x="897591" y="2572480"/>
                <a:ext cx="2367058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680518C-517E-60F2-2230-6A38CF53B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2572480"/>
                <a:ext cx="2367058" cy="756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505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F735-EC0D-89F5-0BA9-7594A0B78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FA61F-4846-2F4D-8C7D-B14DF1A5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1C8D6EA-A695-9FE1-EBEA-267E9954D728}"/>
                  </a:ext>
                </a:extLst>
              </p:cNvPr>
              <p:cNvSpPr txBox="1"/>
              <p:nvPr/>
            </p:nvSpPr>
            <p:spPr>
              <a:xfrm>
                <a:off x="4685517" y="2206588"/>
                <a:ext cx="2644185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1C8D6EA-A695-9FE1-EBEA-267E9954D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517" y="2206588"/>
                <a:ext cx="2644185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eschweifte Klammer links 9">
            <a:extLst>
              <a:ext uri="{FF2B5EF4-FFF2-40B4-BE49-F238E27FC236}">
                <a16:creationId xmlns:a16="http://schemas.microsoft.com/office/drawing/2014/main" id="{EE4DCD8F-49E8-1562-4E77-963CDC146EA7}"/>
              </a:ext>
            </a:extLst>
          </p:cNvPr>
          <p:cNvSpPr/>
          <p:nvPr/>
        </p:nvSpPr>
        <p:spPr>
          <a:xfrm rot="5400000">
            <a:off x="5929885" y="815652"/>
            <a:ext cx="155448" cy="264418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C24DDA9-2AD5-8513-7EF8-E8AF221BA172}"/>
              </a:ext>
            </a:extLst>
          </p:cNvPr>
          <p:cNvSpPr txBox="1"/>
          <p:nvPr/>
        </p:nvSpPr>
        <p:spPr>
          <a:xfrm>
            <a:off x="4732548" y="1690688"/>
            <a:ext cx="2550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„Binomischer Lehrsatz“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210E83E-D1E9-50E9-ED08-2541419BD42B}"/>
                  </a:ext>
                </a:extLst>
              </p:cNvPr>
              <p:cNvSpPr txBox="1"/>
              <p:nvPr/>
            </p:nvSpPr>
            <p:spPr>
              <a:xfrm>
                <a:off x="838199" y="1382077"/>
                <a:ext cx="2367058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210E83E-D1E9-50E9-ED08-2541419BD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382077"/>
                <a:ext cx="2367058" cy="756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Verbinder: gewinkelt 4">
            <a:extLst>
              <a:ext uri="{FF2B5EF4-FFF2-40B4-BE49-F238E27FC236}">
                <a16:creationId xmlns:a16="http://schemas.microsoft.com/office/drawing/2014/main" id="{9F6F79C2-99FE-BBD4-3D21-A54C93E4A069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H="1" flipV="1">
            <a:off x="4685516" y="2584801"/>
            <a:ext cx="47031" cy="689558"/>
          </a:xfrm>
          <a:prstGeom prst="bentConnector4">
            <a:avLst>
              <a:gd name="adj1" fmla="val -486062"/>
              <a:gd name="adj2" fmla="val 9985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86E711B-7A3B-35A9-6556-F11416EE3B57}"/>
                  </a:ext>
                </a:extLst>
              </p:cNvPr>
              <p:cNvSpPr txBox="1"/>
              <p:nvPr/>
            </p:nvSpPr>
            <p:spPr>
              <a:xfrm>
                <a:off x="4712528" y="3135860"/>
                <a:ext cx="26053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86E711B-7A3B-35A9-6556-F11416EE3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528" y="3135860"/>
                <a:ext cx="2605393" cy="276999"/>
              </a:xfrm>
              <a:prstGeom prst="rect">
                <a:avLst/>
              </a:prstGeom>
              <a:blipFill>
                <a:blip r:embed="rId4"/>
                <a:stretch>
                  <a:fillRect r="-468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549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227D-5A3D-DD08-CAF3-E0D97FAC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2874A-AC2C-1294-1C06-6C642C79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0250AA7-06E2-06EF-FF1B-28AFFCB6DB85}"/>
                  </a:ext>
                </a:extLst>
              </p:cNvPr>
              <p:cNvSpPr txBox="1"/>
              <p:nvPr/>
            </p:nvSpPr>
            <p:spPr>
              <a:xfrm>
                <a:off x="4635343" y="1386738"/>
                <a:ext cx="2644185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0250AA7-06E2-06EF-FF1B-28AFFCB6D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343" y="1386738"/>
                <a:ext cx="2644185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A919347A-1E98-5725-90C6-2E7FD4BDEFD2}"/>
                  </a:ext>
                </a:extLst>
              </p:cNvPr>
              <p:cNvSpPr txBox="1"/>
              <p:nvPr/>
            </p:nvSpPr>
            <p:spPr>
              <a:xfrm>
                <a:off x="838199" y="1382077"/>
                <a:ext cx="2367058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A919347A-1E98-5725-90C6-2E7FD4BDE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382077"/>
                <a:ext cx="2367058" cy="756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EBBBE4FE-8E52-CDBB-49E1-289388A1A2F5}"/>
              </a:ext>
            </a:extLst>
          </p:cNvPr>
          <p:cNvGrpSpPr/>
          <p:nvPr/>
        </p:nvGrpSpPr>
        <p:grpSpPr>
          <a:xfrm>
            <a:off x="1641023" y="1892915"/>
            <a:ext cx="5001824" cy="245588"/>
            <a:chOff x="1641023" y="1892915"/>
            <a:chExt cx="5001824" cy="245588"/>
          </a:xfrm>
        </p:grpSpPr>
        <p:cxnSp>
          <p:nvCxnSpPr>
            <p:cNvPr id="73" name="Verbinder: gewinkelt 72">
              <a:extLst>
                <a:ext uri="{FF2B5EF4-FFF2-40B4-BE49-F238E27FC236}">
                  <a16:creationId xmlns:a16="http://schemas.microsoft.com/office/drawing/2014/main" id="{75FB6FD6-555B-E98F-0E42-9D5858D25CA9}"/>
                </a:ext>
              </a:extLst>
            </p:cNvPr>
            <p:cNvCxnSpPr>
              <a:cxnSpLocks/>
            </p:cNvCxnSpPr>
            <p:nvPr/>
          </p:nvCxnSpPr>
          <p:spPr>
            <a:xfrm>
              <a:off x="1641023" y="1897576"/>
              <a:ext cx="5001824" cy="240927"/>
            </a:xfrm>
            <a:prstGeom prst="bentConnector3">
              <a:avLst>
                <a:gd name="adj1" fmla="val -5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0B166DF7-9250-8309-47B4-9A0DEDE52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847" y="1892915"/>
              <a:ext cx="0" cy="245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FC766561-AB7C-6DF4-C325-0DD06DC288DD}"/>
              </a:ext>
            </a:extLst>
          </p:cNvPr>
          <p:cNvGrpSpPr/>
          <p:nvPr/>
        </p:nvGrpSpPr>
        <p:grpSpPr>
          <a:xfrm>
            <a:off x="2134431" y="1897576"/>
            <a:ext cx="4710121" cy="398867"/>
            <a:chOff x="1641023" y="1892915"/>
            <a:chExt cx="5001824" cy="245588"/>
          </a:xfrm>
        </p:grpSpPr>
        <p:cxnSp>
          <p:nvCxnSpPr>
            <p:cNvPr id="84" name="Verbinder: gewinkelt 83">
              <a:extLst>
                <a:ext uri="{FF2B5EF4-FFF2-40B4-BE49-F238E27FC236}">
                  <a16:creationId xmlns:a16="http://schemas.microsoft.com/office/drawing/2014/main" id="{99F08499-A1F0-8A1C-3636-47DE659B597B}"/>
                </a:ext>
              </a:extLst>
            </p:cNvPr>
            <p:cNvCxnSpPr>
              <a:cxnSpLocks/>
            </p:cNvCxnSpPr>
            <p:nvPr/>
          </p:nvCxnSpPr>
          <p:spPr>
            <a:xfrm>
              <a:off x="1641023" y="1897576"/>
              <a:ext cx="5001824" cy="240927"/>
            </a:xfrm>
            <a:prstGeom prst="bentConnector3">
              <a:avLst>
                <a:gd name="adj1" fmla="val -5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0DD9E110-681B-C33D-F8B8-2A9631E117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847" y="1892915"/>
              <a:ext cx="0" cy="245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6805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48A6-0EC1-A121-B2E9-EEA16AA8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FD65D1-83BA-82DE-F9DE-80435DE6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09F042-74CF-28A2-0958-48F336A5BC94}"/>
                  </a:ext>
                </a:extLst>
              </p:cNvPr>
              <p:cNvSpPr txBox="1"/>
              <p:nvPr/>
            </p:nvSpPr>
            <p:spPr>
              <a:xfrm>
                <a:off x="4635343" y="1386738"/>
                <a:ext cx="2634567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309F042-74CF-28A2-0958-48F336A5B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343" y="1386738"/>
                <a:ext cx="2634567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EA4C281-329B-9AB9-EE4B-5255A51C6D2E}"/>
                  </a:ext>
                </a:extLst>
              </p:cNvPr>
              <p:cNvSpPr txBox="1"/>
              <p:nvPr/>
            </p:nvSpPr>
            <p:spPr>
              <a:xfrm>
                <a:off x="838199" y="1382077"/>
                <a:ext cx="2367058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EA4C281-329B-9AB9-EE4B-5255A51C6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382077"/>
                <a:ext cx="2367058" cy="756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A0BE0F9-F0DC-3422-96AA-EC8A7466F298}"/>
                  </a:ext>
                </a:extLst>
              </p:cNvPr>
              <p:cNvSpPr txBox="1"/>
              <p:nvPr/>
            </p:nvSpPr>
            <p:spPr>
              <a:xfrm>
                <a:off x="4716555" y="2225538"/>
                <a:ext cx="264174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 = </m:t>
                      </m:r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 ; </m:t>
                      </m:r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 = 1 − </m:t>
                      </m:r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fr-FR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A0BE0F9-F0DC-3422-96AA-EC8A7466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555" y="2225538"/>
                <a:ext cx="264174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FE64206-4A60-C1AB-4F71-78EA23BE3697}"/>
                  </a:ext>
                </a:extLst>
              </p:cNvPr>
              <p:cNvSpPr txBox="1"/>
              <p:nvPr/>
            </p:nvSpPr>
            <p:spPr>
              <a:xfrm>
                <a:off x="3999622" y="2584854"/>
                <a:ext cx="3668119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FE64206-4A60-C1AB-4F71-78EA23BE3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622" y="2584854"/>
                <a:ext cx="3668119" cy="7564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69CC674-7352-DEA5-D009-FD9C59109777}"/>
                  </a:ext>
                </a:extLst>
              </p:cNvPr>
              <p:cNvSpPr txBox="1"/>
              <p:nvPr/>
            </p:nvSpPr>
            <p:spPr>
              <a:xfrm>
                <a:off x="3373207" y="3662142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69CC674-7352-DEA5-D009-FD9C59109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207" y="3662142"/>
                <a:ext cx="318998" cy="276999"/>
              </a:xfrm>
              <a:prstGeom prst="rect">
                <a:avLst/>
              </a:prstGeom>
              <a:blipFill>
                <a:blip r:embed="rId6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5C670C8-2814-34DF-1355-F0488AADCBD8}"/>
                  </a:ext>
                </a:extLst>
              </p:cNvPr>
              <p:cNvSpPr txBox="1"/>
              <p:nvPr/>
            </p:nvSpPr>
            <p:spPr>
              <a:xfrm>
                <a:off x="4237508" y="3443644"/>
                <a:ext cx="3430233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 +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5C670C8-2814-34DF-1355-F0488AADC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508" y="3443644"/>
                <a:ext cx="3430233" cy="7564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E693425C-F75C-188E-9613-2A8E28EEBE69}"/>
                  </a:ext>
                </a:extLst>
              </p:cNvPr>
              <p:cNvSpPr txBox="1"/>
              <p:nvPr/>
            </p:nvSpPr>
            <p:spPr>
              <a:xfrm>
                <a:off x="3373207" y="4573979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E693425C-F75C-188E-9613-2A8E28EEB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207" y="4573979"/>
                <a:ext cx="318998" cy="276999"/>
              </a:xfrm>
              <a:prstGeom prst="rect">
                <a:avLst/>
              </a:prstGeom>
              <a:blipFill>
                <a:blip r:embed="rId8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97241BF-C1AA-EACF-B287-75D6376193F0}"/>
                  </a:ext>
                </a:extLst>
              </p:cNvPr>
              <p:cNvSpPr txBox="1"/>
              <p:nvPr/>
            </p:nvSpPr>
            <p:spPr>
              <a:xfrm>
                <a:off x="5119114" y="4334266"/>
                <a:ext cx="2607059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97241BF-C1AA-EACF-B287-75D637619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114" y="4334266"/>
                <a:ext cx="2607059" cy="7564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53A7890-2A0E-078A-AD2D-EF21165E4118}"/>
                  </a:ext>
                </a:extLst>
              </p:cNvPr>
              <p:cNvSpPr txBox="1"/>
              <p:nvPr/>
            </p:nvSpPr>
            <p:spPr>
              <a:xfrm>
                <a:off x="5214184" y="5193056"/>
                <a:ext cx="2453557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53A7890-2A0E-078A-AD2D-EF21165E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184" y="5193056"/>
                <a:ext cx="2453557" cy="7564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5214E5F9-8185-2846-29D2-BF885EE54264}"/>
                  </a:ext>
                </a:extLst>
              </p:cNvPr>
              <p:cNvSpPr txBox="1"/>
              <p:nvPr/>
            </p:nvSpPr>
            <p:spPr>
              <a:xfrm>
                <a:off x="3373207" y="5432769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5214E5F9-8185-2846-29D2-BF885EE54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207" y="5432769"/>
                <a:ext cx="318998" cy="276999"/>
              </a:xfrm>
              <a:prstGeom prst="rect">
                <a:avLst/>
              </a:prstGeom>
              <a:blipFill>
                <a:blip r:embed="rId11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27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0AE0-6E4E-891F-08F1-8E973A93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25AF0-DD58-7213-3CEF-1807CFA1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5C00118-64C4-FA89-B982-EF1648D8FC10}"/>
                  </a:ext>
                </a:extLst>
              </p:cNvPr>
              <p:cNvSpPr txBox="1"/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5C00118-64C4-FA89-B982-EF1648D8F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ED162D1C-E241-BE15-6E0D-8D3EDFAA1608}"/>
              </a:ext>
            </a:extLst>
          </p:cNvPr>
          <p:cNvSpPr txBox="1"/>
          <p:nvPr/>
        </p:nvSpPr>
        <p:spPr>
          <a:xfrm>
            <a:off x="838200" y="2165049"/>
            <a:ext cx="7014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Bei t = 0 befinden wir uns am </a:t>
            </a:r>
            <a:r>
              <a:rPr lang="de-DE" b="1" i="1" dirty="0"/>
              <a:t>Startpunkt</a:t>
            </a:r>
            <a:r>
              <a:rPr lang="de-DE" dirty="0"/>
              <a:t>, bei t = 1 am </a:t>
            </a:r>
            <a:r>
              <a:rPr lang="de-DE" b="1" i="1" dirty="0"/>
              <a:t>Endpunkt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0066238-6899-472A-EDB2-8151347844F6}"/>
                  </a:ext>
                </a:extLst>
              </p:cNvPr>
              <p:cNvSpPr txBox="1"/>
              <p:nvPr/>
            </p:nvSpPr>
            <p:spPr>
              <a:xfrm>
                <a:off x="1927409" y="2594404"/>
                <a:ext cx="2706959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0066238-6899-472A-EDB2-815134784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09" y="2594404"/>
                <a:ext cx="2706959" cy="4743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DC911DA-21E4-38A2-2522-9534D4005582}"/>
              </a:ext>
            </a:extLst>
          </p:cNvPr>
          <p:cNvSpPr txBox="1"/>
          <p:nvPr/>
        </p:nvSpPr>
        <p:spPr>
          <a:xfrm>
            <a:off x="838200" y="2646919"/>
            <a:ext cx="1089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Für </a:t>
            </a:r>
            <a:r>
              <a:rPr lang="de-DE" b="1" i="1" dirty="0"/>
              <a:t>t = 0 </a:t>
            </a:r>
            <a:r>
              <a:rPr lang="de-DE" dirty="0"/>
              <a:t>:</a:t>
            </a:r>
            <a:endParaRPr lang="de-DE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D44C520-B404-57DD-7A66-EA8147991BF7}"/>
                  </a:ext>
                </a:extLst>
              </p:cNvPr>
              <p:cNvSpPr txBox="1"/>
              <p:nvPr/>
            </p:nvSpPr>
            <p:spPr>
              <a:xfrm>
                <a:off x="5058333" y="2594403"/>
                <a:ext cx="2303003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D44C520-B404-57DD-7A66-EA8147991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333" y="2594403"/>
                <a:ext cx="2303003" cy="4743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9F3D621E-5AF2-623A-400E-E1CB5DC61748}"/>
                  </a:ext>
                </a:extLst>
              </p:cNvPr>
              <p:cNvSpPr txBox="1"/>
              <p:nvPr/>
            </p:nvSpPr>
            <p:spPr>
              <a:xfrm>
                <a:off x="4686851" y="2693083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9F3D621E-5AF2-623A-400E-E1CB5DC61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851" y="2693083"/>
                <a:ext cx="318998" cy="276999"/>
              </a:xfrm>
              <a:prstGeom prst="rect">
                <a:avLst/>
              </a:prstGeom>
              <a:blipFill>
                <a:blip r:embed="rId5"/>
                <a:stretch>
                  <a:fillRect l="-13462" r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5BA9D7A4-B592-75FE-2D52-49CB2B49BCF3}"/>
              </a:ext>
            </a:extLst>
          </p:cNvPr>
          <p:cNvSpPr txBox="1"/>
          <p:nvPr/>
        </p:nvSpPr>
        <p:spPr>
          <a:xfrm>
            <a:off x="4976248" y="3068764"/>
            <a:ext cx="286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Nur für </a:t>
            </a:r>
            <a:r>
              <a:rPr lang="de-DE" b="1" i="1" dirty="0"/>
              <a:t>i = 0 </a:t>
            </a:r>
            <a:r>
              <a:rPr lang="de-DE" dirty="0"/>
              <a:t>: ≠ 0 ( da x⁰ = 1 )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17CAE34-EC9C-E447-6F5A-A30E29BC21A5}"/>
                  </a:ext>
                </a:extLst>
              </p:cNvPr>
              <p:cNvSpPr txBox="1"/>
              <p:nvPr/>
            </p:nvSpPr>
            <p:spPr>
              <a:xfrm>
                <a:off x="5068587" y="3438096"/>
                <a:ext cx="2369880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−0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17CAE34-EC9C-E447-6F5A-A30E29BC2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587" y="3438096"/>
                <a:ext cx="2369880" cy="4743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BD42B57-7A5F-592D-888E-F0E2A369CDAA}"/>
                  </a:ext>
                </a:extLst>
              </p:cNvPr>
              <p:cNvSpPr txBox="1"/>
              <p:nvPr/>
            </p:nvSpPr>
            <p:spPr>
              <a:xfrm>
                <a:off x="4696276" y="4143288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BD42B57-7A5F-592D-888E-F0E2A369C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276" y="4143288"/>
                <a:ext cx="318998" cy="276999"/>
              </a:xfrm>
              <a:prstGeom prst="rect">
                <a:avLst/>
              </a:prstGeom>
              <a:blipFill>
                <a:blip r:embed="rId7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59DD48E4-015C-CCA9-09A3-A0055E4748BF}"/>
                  </a:ext>
                </a:extLst>
              </p:cNvPr>
              <p:cNvSpPr txBox="1"/>
              <p:nvPr/>
            </p:nvSpPr>
            <p:spPr>
              <a:xfrm>
                <a:off x="5068587" y="4044608"/>
                <a:ext cx="2150268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59DD48E4-015C-CCA9-09A3-A0055E474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587" y="4044608"/>
                <a:ext cx="2150268" cy="4743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3B20FA40-44E6-CB9D-4356-CA1E8C5ACEA9}"/>
                  </a:ext>
                </a:extLst>
              </p:cNvPr>
              <p:cNvSpPr txBox="1"/>
              <p:nvPr/>
            </p:nvSpPr>
            <p:spPr>
              <a:xfrm>
                <a:off x="4696276" y="4657725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3B20FA40-44E6-CB9D-4356-CA1E8C5AC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276" y="4657725"/>
                <a:ext cx="318998" cy="276999"/>
              </a:xfrm>
              <a:prstGeom prst="rect">
                <a:avLst/>
              </a:prstGeom>
              <a:blipFill>
                <a:blip r:embed="rId9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D496DB91-C372-0A6E-EC90-16C91BC1DCCD}"/>
                  </a:ext>
                </a:extLst>
              </p:cNvPr>
              <p:cNvSpPr txBox="1"/>
              <p:nvPr/>
            </p:nvSpPr>
            <p:spPr>
              <a:xfrm>
                <a:off x="5058333" y="4657725"/>
                <a:ext cx="2022926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1×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D496DB91-C372-0A6E-EC90-16C91BC1D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333" y="4657725"/>
                <a:ext cx="2022926" cy="289182"/>
              </a:xfrm>
              <a:prstGeom prst="rect">
                <a:avLst/>
              </a:prstGeom>
              <a:blipFill>
                <a:blip r:embed="rId10"/>
                <a:stretch>
                  <a:fillRect l="-2711" r="-2410" b="-104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223E647-7EFD-1D6B-84D9-9CA8C08BD233}"/>
                  </a:ext>
                </a:extLst>
              </p:cNvPr>
              <p:cNvSpPr txBox="1"/>
              <p:nvPr/>
            </p:nvSpPr>
            <p:spPr>
              <a:xfrm>
                <a:off x="4696276" y="5091754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223E647-7EFD-1D6B-84D9-9CA8C08BD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276" y="5091754"/>
                <a:ext cx="318998" cy="276999"/>
              </a:xfrm>
              <a:prstGeom prst="rect">
                <a:avLst/>
              </a:prstGeom>
              <a:blipFill>
                <a:blip r:embed="rId11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C223F718-F821-C468-6C5E-6656E20B44FC}"/>
                  </a:ext>
                </a:extLst>
              </p:cNvPr>
              <p:cNvSpPr txBox="1"/>
              <p:nvPr/>
            </p:nvSpPr>
            <p:spPr>
              <a:xfrm>
                <a:off x="5058333" y="5085663"/>
                <a:ext cx="119257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C223F718-F821-C468-6C5E-6656E20B4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333" y="5085663"/>
                <a:ext cx="1192571" cy="289182"/>
              </a:xfrm>
              <a:prstGeom prst="rect">
                <a:avLst/>
              </a:prstGeom>
              <a:blipFill>
                <a:blip r:embed="rId12"/>
                <a:stretch>
                  <a:fillRect l="-4615" r="-4615" b="-104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76C92E2C-8A4B-BD08-E8FE-2AB55535BFF3}"/>
                  </a:ext>
                </a:extLst>
              </p:cNvPr>
              <p:cNvSpPr txBox="1"/>
              <p:nvPr/>
            </p:nvSpPr>
            <p:spPr>
              <a:xfrm>
                <a:off x="7785301" y="3110554"/>
                <a:ext cx="11978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76C92E2C-8A4B-BD08-E8FE-2AB55535B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301" y="3110554"/>
                <a:ext cx="119784" cy="276999"/>
              </a:xfrm>
              <a:prstGeom prst="rect">
                <a:avLst/>
              </a:prstGeom>
              <a:blipFill>
                <a:blip r:embed="rId13"/>
                <a:stretch>
                  <a:fillRect l="-45000" r="-1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feld 18">
            <a:extLst>
              <a:ext uri="{FF2B5EF4-FFF2-40B4-BE49-F238E27FC236}">
                <a16:creationId xmlns:a16="http://schemas.microsoft.com/office/drawing/2014/main" id="{E5409BD6-3BDE-FEAB-DB63-BBB1D6602B92}"/>
              </a:ext>
            </a:extLst>
          </p:cNvPr>
          <p:cNvSpPr txBox="1"/>
          <p:nvPr/>
        </p:nvSpPr>
        <p:spPr>
          <a:xfrm>
            <a:off x="8256161" y="3053635"/>
            <a:ext cx="3494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Für </a:t>
            </a:r>
            <a:r>
              <a:rPr lang="de-DE" b="1" i="1" dirty="0"/>
              <a:t>t = 0 </a:t>
            </a:r>
            <a:r>
              <a:rPr lang="de-DE" dirty="0"/>
              <a:t>ist der Startpunkt der einzige Punkt der Einfluss auf die Kurve nimmt.</a:t>
            </a:r>
            <a:endParaRPr lang="de-DE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15F500DE-B6CC-2093-E3C2-59C0602AE5EE}"/>
                  </a:ext>
                </a:extLst>
              </p:cNvPr>
              <p:cNvSpPr txBox="1"/>
              <p:nvPr/>
            </p:nvSpPr>
            <p:spPr>
              <a:xfrm>
                <a:off x="6384566" y="5078307"/>
                <a:ext cx="11978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15F500DE-B6CC-2093-E3C2-59C0602AE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566" y="5078307"/>
                <a:ext cx="119784" cy="276999"/>
              </a:xfrm>
              <a:prstGeom prst="rect">
                <a:avLst/>
              </a:prstGeom>
              <a:blipFill>
                <a:blip r:embed="rId14"/>
                <a:stretch>
                  <a:fillRect l="-45000" r="-1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feld 20">
            <a:extLst>
              <a:ext uri="{FF2B5EF4-FFF2-40B4-BE49-F238E27FC236}">
                <a16:creationId xmlns:a16="http://schemas.microsoft.com/office/drawing/2014/main" id="{2CF66018-42DE-B4A2-B276-49A53AE9DC5C}"/>
              </a:ext>
            </a:extLst>
          </p:cNvPr>
          <p:cNvSpPr txBox="1"/>
          <p:nvPr/>
        </p:nvSpPr>
        <p:spPr>
          <a:xfrm>
            <a:off x="6855426" y="5021388"/>
            <a:ext cx="3494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Für </a:t>
            </a:r>
            <a:r>
              <a:rPr lang="de-DE" b="1" i="1" dirty="0"/>
              <a:t>t = 0 </a:t>
            </a:r>
            <a:r>
              <a:rPr lang="de-DE" dirty="0"/>
              <a:t>und </a:t>
            </a:r>
            <a:r>
              <a:rPr lang="de-DE" b="1" i="1" dirty="0"/>
              <a:t>i = 0 </a:t>
            </a:r>
            <a:r>
              <a:rPr lang="de-DE" dirty="0"/>
              <a:t>befinden wir uns auf P₀ .</a:t>
            </a:r>
            <a:endParaRPr lang="de-DE" b="1" i="1" dirty="0"/>
          </a:p>
        </p:txBody>
      </p:sp>
    </p:spTree>
    <p:extLst>
      <p:ext uri="{BB962C8B-B14F-4D97-AF65-F5344CB8AC3E}">
        <p14:creationId xmlns:p14="http://schemas.microsoft.com/office/powerpoint/2010/main" val="1283174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D83A7-31AA-E4A9-2271-3871552A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8FC51E-99DD-6E98-96EF-D35FFD38B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6CF1E63-17FE-2045-F564-E654ADFB92DB}"/>
                  </a:ext>
                </a:extLst>
              </p:cNvPr>
              <p:cNvSpPr txBox="1"/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6CF1E63-17FE-2045-F564-E654ADFB9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726E45D6-4B01-C649-DA09-445543A7F3FC}"/>
              </a:ext>
            </a:extLst>
          </p:cNvPr>
          <p:cNvSpPr txBox="1"/>
          <p:nvPr/>
        </p:nvSpPr>
        <p:spPr>
          <a:xfrm>
            <a:off x="838200" y="2165049"/>
            <a:ext cx="7014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Bei t = 0 befinden wir uns am </a:t>
            </a:r>
            <a:r>
              <a:rPr lang="de-DE" b="1" i="1" dirty="0"/>
              <a:t>Startpunkt</a:t>
            </a:r>
            <a:r>
              <a:rPr lang="de-DE" dirty="0"/>
              <a:t>, bei t = 1 am </a:t>
            </a:r>
            <a:r>
              <a:rPr lang="de-DE" b="1" i="1" dirty="0"/>
              <a:t>Endpunkt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AEDA5A3-6206-646C-0F28-3609605D9752}"/>
                  </a:ext>
                </a:extLst>
              </p:cNvPr>
              <p:cNvSpPr txBox="1"/>
              <p:nvPr/>
            </p:nvSpPr>
            <p:spPr>
              <a:xfrm>
                <a:off x="1927409" y="2594404"/>
                <a:ext cx="2706959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AEDA5A3-6206-646C-0F28-3609605D9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09" y="2594404"/>
                <a:ext cx="2706959" cy="4743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D71DC5B3-9C1E-AD62-8148-33457D8F0F41}"/>
              </a:ext>
            </a:extLst>
          </p:cNvPr>
          <p:cNvSpPr txBox="1"/>
          <p:nvPr/>
        </p:nvSpPr>
        <p:spPr>
          <a:xfrm>
            <a:off x="838200" y="2646919"/>
            <a:ext cx="1089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Für </a:t>
            </a:r>
            <a:r>
              <a:rPr lang="de-DE" b="1" i="1" dirty="0"/>
              <a:t>t = 1 </a:t>
            </a:r>
            <a:r>
              <a:rPr lang="de-DE" dirty="0"/>
              <a:t>:</a:t>
            </a:r>
            <a:endParaRPr lang="de-DE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16B8B56-F687-EFDF-42A9-3D740DF4CC93}"/>
                  </a:ext>
                </a:extLst>
              </p:cNvPr>
              <p:cNvSpPr txBox="1"/>
              <p:nvPr/>
            </p:nvSpPr>
            <p:spPr>
              <a:xfrm>
                <a:off x="5058333" y="2594403"/>
                <a:ext cx="2386359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16B8B56-F687-EFDF-42A9-3D740DF4C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333" y="2594403"/>
                <a:ext cx="2386359" cy="4743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1AE5D34-7BA0-E357-E37E-A6FBC3E6727A}"/>
                  </a:ext>
                </a:extLst>
              </p:cNvPr>
              <p:cNvSpPr txBox="1"/>
              <p:nvPr/>
            </p:nvSpPr>
            <p:spPr>
              <a:xfrm>
                <a:off x="4686851" y="2693083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1AE5D34-7BA0-E357-E37E-A6FBC3E67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851" y="2693083"/>
                <a:ext cx="318998" cy="276999"/>
              </a:xfrm>
              <a:prstGeom prst="rect">
                <a:avLst/>
              </a:prstGeom>
              <a:blipFill>
                <a:blip r:embed="rId5"/>
                <a:stretch>
                  <a:fillRect l="-13462" r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68AECF6B-76C1-5960-4E4A-373D1D2740F7}"/>
              </a:ext>
            </a:extLst>
          </p:cNvPr>
          <p:cNvSpPr txBox="1"/>
          <p:nvPr/>
        </p:nvSpPr>
        <p:spPr>
          <a:xfrm>
            <a:off x="5005849" y="3578804"/>
            <a:ext cx="370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Nur für </a:t>
            </a:r>
            <a:r>
              <a:rPr lang="de-DE" b="1" i="1" dirty="0"/>
              <a:t>i = n </a:t>
            </a:r>
            <a:r>
              <a:rPr lang="de-DE" dirty="0"/>
              <a:t>: ≠ 0 ( da 0ˣ = 1 für x = 0 )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01103F2-E335-98E5-46B4-61EBD3CC31DC}"/>
                  </a:ext>
                </a:extLst>
              </p:cNvPr>
              <p:cNvSpPr txBox="1"/>
              <p:nvPr/>
            </p:nvSpPr>
            <p:spPr>
              <a:xfrm>
                <a:off x="8592670" y="3627650"/>
                <a:ext cx="10462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01103F2-E335-98E5-46B4-61EBD3CC3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670" y="3627650"/>
                <a:ext cx="104623" cy="276999"/>
              </a:xfrm>
              <a:prstGeom prst="rect">
                <a:avLst/>
              </a:prstGeom>
              <a:blipFill>
                <a:blip r:embed="rId6"/>
                <a:stretch>
                  <a:fillRect l="-58824" r="-1411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feld 18">
            <a:extLst>
              <a:ext uri="{FF2B5EF4-FFF2-40B4-BE49-F238E27FC236}">
                <a16:creationId xmlns:a16="http://schemas.microsoft.com/office/drawing/2014/main" id="{B145B2BF-E1D9-C2A1-C122-D6A61F357200}"/>
              </a:ext>
            </a:extLst>
          </p:cNvPr>
          <p:cNvSpPr txBox="1"/>
          <p:nvPr/>
        </p:nvSpPr>
        <p:spPr>
          <a:xfrm>
            <a:off x="9063531" y="3570731"/>
            <a:ext cx="3052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Für </a:t>
            </a:r>
            <a:r>
              <a:rPr lang="de-DE" b="1" i="1" dirty="0"/>
              <a:t>t = 1 </a:t>
            </a:r>
            <a:r>
              <a:rPr lang="de-DE" dirty="0"/>
              <a:t>ist der Endpunkt der einzige Punkt der Einfluss auf die Kurve nimmt.</a:t>
            </a:r>
            <a:endParaRPr lang="de-DE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9429628-3B4D-2E1B-E577-3E63B1F83827}"/>
                  </a:ext>
                </a:extLst>
              </p:cNvPr>
              <p:cNvSpPr txBox="1"/>
              <p:nvPr/>
            </p:nvSpPr>
            <p:spPr>
              <a:xfrm>
                <a:off x="7079096" y="5096904"/>
                <a:ext cx="11978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9429628-3B4D-2E1B-E577-3E63B1F83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096" y="5096904"/>
                <a:ext cx="119784" cy="276999"/>
              </a:xfrm>
              <a:prstGeom prst="rect">
                <a:avLst/>
              </a:prstGeom>
              <a:blipFill>
                <a:blip r:embed="rId7"/>
                <a:stretch>
                  <a:fillRect l="-45000" r="-1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feld 20">
            <a:extLst>
              <a:ext uri="{FF2B5EF4-FFF2-40B4-BE49-F238E27FC236}">
                <a16:creationId xmlns:a16="http://schemas.microsoft.com/office/drawing/2014/main" id="{3AF4AEFB-CC08-F0FE-34FE-4463928136D9}"/>
              </a:ext>
            </a:extLst>
          </p:cNvPr>
          <p:cNvSpPr txBox="1"/>
          <p:nvPr/>
        </p:nvSpPr>
        <p:spPr>
          <a:xfrm>
            <a:off x="7549956" y="5039985"/>
            <a:ext cx="3494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Für </a:t>
            </a:r>
            <a:r>
              <a:rPr lang="de-DE" b="1" i="1" dirty="0"/>
              <a:t>t = 0 </a:t>
            </a:r>
            <a:r>
              <a:rPr lang="de-DE" dirty="0"/>
              <a:t>und </a:t>
            </a:r>
            <a:r>
              <a:rPr lang="de-DE" b="1" i="1" dirty="0"/>
              <a:t>i = n </a:t>
            </a:r>
            <a:r>
              <a:rPr lang="de-DE" dirty="0"/>
              <a:t>befinden wir uns auf Pₙ .</a:t>
            </a:r>
            <a:endParaRPr lang="de-DE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1558AB25-A6B0-1C7D-D905-33E72CDCFBFB}"/>
                  </a:ext>
                </a:extLst>
              </p:cNvPr>
              <p:cNvSpPr txBox="1"/>
              <p:nvPr/>
            </p:nvSpPr>
            <p:spPr>
              <a:xfrm>
                <a:off x="5058333" y="3124383"/>
                <a:ext cx="2329356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1558AB25-A6B0-1C7D-D905-33E72CDCF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333" y="3124383"/>
                <a:ext cx="2329356" cy="4743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E11D5736-6FF7-FD10-8E06-E53E5CF411CE}"/>
                  </a:ext>
                </a:extLst>
              </p:cNvPr>
              <p:cNvSpPr txBox="1"/>
              <p:nvPr/>
            </p:nvSpPr>
            <p:spPr>
              <a:xfrm>
                <a:off x="4705331" y="3222652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E11D5736-6FF7-FD10-8E06-E53E5CF41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331" y="3222652"/>
                <a:ext cx="318998" cy="276999"/>
              </a:xfrm>
              <a:prstGeom prst="rect">
                <a:avLst/>
              </a:prstGeom>
              <a:blipFill>
                <a:blip r:embed="rId9"/>
                <a:stretch>
                  <a:fillRect l="-13462" r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963C2218-E421-A276-1322-B06D1E913168}"/>
                  </a:ext>
                </a:extLst>
              </p:cNvPr>
              <p:cNvSpPr txBox="1"/>
              <p:nvPr/>
            </p:nvSpPr>
            <p:spPr>
              <a:xfrm>
                <a:off x="5058333" y="4010401"/>
                <a:ext cx="2622385" cy="47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den>
                          </m:f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963C2218-E421-A276-1322-B06D1E913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333" y="4010401"/>
                <a:ext cx="2622385" cy="4725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00E6FF16-B243-FA8C-DA66-B52C96AFD6AC}"/>
                  </a:ext>
                </a:extLst>
              </p:cNvPr>
              <p:cNvSpPr txBox="1"/>
              <p:nvPr/>
            </p:nvSpPr>
            <p:spPr>
              <a:xfrm>
                <a:off x="5058333" y="4545231"/>
                <a:ext cx="2438360" cy="47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den>
                          </m:f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00E6FF16-B243-FA8C-DA66-B52C96AFD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333" y="4545231"/>
                <a:ext cx="2438360" cy="4725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82DB315D-5BA6-2E5A-AE8C-FAEA494E6CB2}"/>
                  </a:ext>
                </a:extLst>
              </p:cNvPr>
              <p:cNvSpPr txBox="1"/>
              <p:nvPr/>
            </p:nvSpPr>
            <p:spPr>
              <a:xfrm>
                <a:off x="5105398" y="5080061"/>
                <a:ext cx="1846596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82DB315D-5BA6-2E5A-AE8C-FAEA494E6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398" y="5080061"/>
                <a:ext cx="1846596" cy="289182"/>
              </a:xfrm>
              <a:prstGeom prst="rect">
                <a:avLst/>
              </a:prstGeom>
              <a:blipFill>
                <a:blip r:embed="rId12"/>
                <a:stretch>
                  <a:fillRect l="-2640" r="-2970" b="-1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88D7F54-A63E-F557-5795-3C3288D879C1}"/>
                  </a:ext>
                </a:extLst>
              </p:cNvPr>
              <p:cNvSpPr txBox="1"/>
              <p:nvPr/>
            </p:nvSpPr>
            <p:spPr>
              <a:xfrm>
                <a:off x="4721403" y="4108183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88D7F54-A63E-F557-5795-3C3288D87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403" y="4108183"/>
                <a:ext cx="318998" cy="276999"/>
              </a:xfrm>
              <a:prstGeom prst="rect">
                <a:avLst/>
              </a:prstGeom>
              <a:blipFill>
                <a:blip r:embed="rId13"/>
                <a:stretch>
                  <a:fillRect l="-13462" r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99BD2926-C4A6-453E-D1C5-ACB3759B70DF}"/>
                  </a:ext>
                </a:extLst>
              </p:cNvPr>
              <p:cNvSpPr txBox="1"/>
              <p:nvPr/>
            </p:nvSpPr>
            <p:spPr>
              <a:xfrm>
                <a:off x="4756325" y="5086152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99BD2926-C4A6-453E-D1C5-ACB3759B7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325" y="5086152"/>
                <a:ext cx="318998" cy="276999"/>
              </a:xfrm>
              <a:prstGeom prst="rect">
                <a:avLst/>
              </a:prstGeom>
              <a:blipFill>
                <a:blip r:embed="rId14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B691A138-7D25-3ED6-6A39-D8F6940207EF}"/>
                  </a:ext>
                </a:extLst>
              </p:cNvPr>
              <p:cNvSpPr txBox="1"/>
              <p:nvPr/>
            </p:nvSpPr>
            <p:spPr>
              <a:xfrm>
                <a:off x="4754079" y="4646060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B691A138-7D25-3ED6-6A39-D8F694020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079" y="4646060"/>
                <a:ext cx="318998" cy="276999"/>
              </a:xfrm>
              <a:prstGeom prst="rect">
                <a:avLst/>
              </a:prstGeom>
              <a:blipFill>
                <a:blip r:embed="rId15"/>
                <a:stretch>
                  <a:fillRect l="-13462" r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070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8" grpId="0"/>
      <p:bldP spid="19" grpId="0"/>
      <p:bldP spid="20" grpId="0"/>
      <p:bldP spid="21" grpId="0"/>
      <p:bldP spid="12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B7696-C132-FC5F-859F-34C0D1DB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1C13F0-40B5-C217-F44F-91BFCBFE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62DFD8C-F781-7BE7-6467-B4B9D79BB459}"/>
                  </a:ext>
                </a:extLst>
              </p:cNvPr>
              <p:cNvSpPr txBox="1"/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62DFD8C-F781-7BE7-6467-B4B9D79BB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97B380A0-B5E8-2F6C-BC99-DD6198E8BC85}"/>
              </a:ext>
            </a:extLst>
          </p:cNvPr>
          <p:cNvSpPr txBox="1"/>
          <p:nvPr/>
        </p:nvSpPr>
        <p:spPr>
          <a:xfrm>
            <a:off x="838200" y="2165049"/>
            <a:ext cx="819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Die finale Kurve befindet sich innerhalb der „</a:t>
            </a:r>
            <a:r>
              <a:rPr lang="de-DE" b="1" i="1" dirty="0"/>
              <a:t>konvexen Hülle</a:t>
            </a:r>
            <a:r>
              <a:rPr lang="de-DE" dirty="0"/>
              <a:t>“ der Kontrollpunkte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6959E40-C333-CE25-B263-7A06987FFBE1}"/>
              </a:ext>
            </a:extLst>
          </p:cNvPr>
          <p:cNvSpPr/>
          <p:nvPr/>
        </p:nvSpPr>
        <p:spPr>
          <a:xfrm>
            <a:off x="2863803" y="5581650"/>
            <a:ext cx="110378" cy="1103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D8B63F3-0D26-75AF-9E53-DD2EBA403B41}"/>
              </a:ext>
            </a:extLst>
          </p:cNvPr>
          <p:cNvSpPr/>
          <p:nvPr/>
        </p:nvSpPr>
        <p:spPr>
          <a:xfrm>
            <a:off x="7097385" y="3737161"/>
            <a:ext cx="110378" cy="1103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6E66DEC-1952-1ECC-C051-3D6AC3DEA1A9}"/>
              </a:ext>
            </a:extLst>
          </p:cNvPr>
          <p:cNvSpPr/>
          <p:nvPr/>
        </p:nvSpPr>
        <p:spPr>
          <a:xfrm>
            <a:off x="6785862" y="5526461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1E1BCAF-A4B0-8E8F-0E7E-B62726EA869A}"/>
              </a:ext>
            </a:extLst>
          </p:cNvPr>
          <p:cNvSpPr/>
          <p:nvPr/>
        </p:nvSpPr>
        <p:spPr>
          <a:xfrm>
            <a:off x="3536157" y="3681972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F510604-6B13-65F8-1253-AE9E79E56CCC}"/>
              </a:ext>
            </a:extLst>
          </p:cNvPr>
          <p:cNvSpPr/>
          <p:nvPr/>
        </p:nvSpPr>
        <p:spPr>
          <a:xfrm>
            <a:off x="5557699" y="3209083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2EF9F04-9955-7424-73D4-2A2628B2B90D}"/>
              </a:ext>
            </a:extLst>
          </p:cNvPr>
          <p:cNvSpPr txBox="1"/>
          <p:nvPr/>
        </p:nvSpPr>
        <p:spPr>
          <a:xfrm>
            <a:off x="2300691" y="5692028"/>
            <a:ext cx="123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Startpunkt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6A1E233-0A92-A4E5-324D-2AA38D32A18B}"/>
              </a:ext>
            </a:extLst>
          </p:cNvPr>
          <p:cNvSpPr txBox="1"/>
          <p:nvPr/>
        </p:nvSpPr>
        <p:spPr>
          <a:xfrm>
            <a:off x="7207763" y="3607684"/>
            <a:ext cx="114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Endpunkt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3E74AE8-9C59-9EA0-1A46-61AECACE3D5A}"/>
              </a:ext>
            </a:extLst>
          </p:cNvPr>
          <p:cNvSpPr txBox="1"/>
          <p:nvPr/>
        </p:nvSpPr>
        <p:spPr>
          <a:xfrm>
            <a:off x="6888156" y="5581650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P₁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D6EC3B6-E335-4306-4930-092D1E29AFF1}"/>
              </a:ext>
            </a:extLst>
          </p:cNvPr>
          <p:cNvSpPr txBox="1"/>
          <p:nvPr/>
        </p:nvSpPr>
        <p:spPr>
          <a:xfrm>
            <a:off x="3112301" y="354776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P₂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9C386F3-0F62-6048-C60D-23AC3531A4D1}"/>
              </a:ext>
            </a:extLst>
          </p:cNvPr>
          <p:cNvSpPr txBox="1"/>
          <p:nvPr/>
        </p:nvSpPr>
        <p:spPr>
          <a:xfrm>
            <a:off x="5216626" y="326427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P₃</a:t>
            </a: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083205A-FF17-80AD-2B72-B3E484A37704}"/>
              </a:ext>
            </a:extLst>
          </p:cNvPr>
          <p:cNvCxnSpPr>
            <a:cxnSpLocks/>
            <a:stCxn id="10" idx="2"/>
            <a:endCxn id="14" idx="1"/>
          </p:cNvCxnSpPr>
          <p:nvPr/>
        </p:nvCxnSpPr>
        <p:spPr>
          <a:xfrm flipV="1">
            <a:off x="2863803" y="3698136"/>
            <a:ext cx="688518" cy="1938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A9A838D6-19A6-EAFF-0BA9-F88AE10149D4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flipV="1">
            <a:off x="3552321" y="3209083"/>
            <a:ext cx="2060567" cy="489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641CFEC-5124-D707-B1F5-B19A552A32B6}"/>
              </a:ext>
            </a:extLst>
          </p:cNvPr>
          <p:cNvCxnSpPr>
            <a:cxnSpLocks/>
            <a:stCxn id="15" idx="0"/>
            <a:endCxn id="11" idx="7"/>
          </p:cNvCxnSpPr>
          <p:nvPr/>
        </p:nvCxnSpPr>
        <p:spPr>
          <a:xfrm>
            <a:off x="5612888" y="3209083"/>
            <a:ext cx="1578711" cy="5442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BC34B84A-BB59-2997-380F-FB83DC2003A2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6896240" y="3792350"/>
            <a:ext cx="311523" cy="1813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91D54F8A-D035-257F-C9A0-59B2EE1266EF}"/>
              </a:ext>
            </a:extLst>
          </p:cNvPr>
          <p:cNvCxnSpPr>
            <a:cxnSpLocks/>
            <a:stCxn id="10" idx="4"/>
          </p:cNvCxnSpPr>
          <p:nvPr/>
        </p:nvCxnSpPr>
        <p:spPr>
          <a:xfrm flipV="1">
            <a:off x="2918992" y="5585924"/>
            <a:ext cx="3969164" cy="106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4ECC793D-EC7C-A335-97BF-35AF7D65C8E0}"/>
              </a:ext>
            </a:extLst>
          </p:cNvPr>
          <p:cNvCxnSpPr>
            <a:cxnSpLocks/>
          </p:cNvCxnSpPr>
          <p:nvPr/>
        </p:nvCxnSpPr>
        <p:spPr>
          <a:xfrm flipV="1">
            <a:off x="6402243" y="3336698"/>
            <a:ext cx="1456204" cy="145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EA1B5B3D-0BF0-99EF-6111-EDAEA6632993}"/>
              </a:ext>
            </a:extLst>
          </p:cNvPr>
          <p:cNvSpPr txBox="1"/>
          <p:nvPr/>
        </p:nvSpPr>
        <p:spPr>
          <a:xfrm>
            <a:off x="7778467" y="3152032"/>
            <a:ext cx="1770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„konvexe Hülle“</a:t>
            </a:r>
          </a:p>
        </p:txBody>
      </p:sp>
    </p:spTree>
    <p:extLst>
      <p:ext uri="{BB962C8B-B14F-4D97-AF65-F5344CB8AC3E}">
        <p14:creationId xmlns:p14="http://schemas.microsoft.com/office/powerpoint/2010/main" val="3901345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/>
      <p:bldP spid="17" grpId="0"/>
      <p:bldP spid="29" grpId="0"/>
      <p:bldP spid="30" grpId="0"/>
      <p:bldP spid="31" grpId="0"/>
      <p:bldP spid="4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F85E-BF5A-13AB-C0A5-CDACAD69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04087-C0EB-5744-C43C-D910DAA4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0A23319B-EE62-170B-D4DE-19EA85F7B987}"/>
                  </a:ext>
                </a:extLst>
              </p:cNvPr>
              <p:cNvSpPr txBox="1"/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0A23319B-EE62-170B-D4DE-19EA85F7B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E834BF34-49E9-8055-98BC-06BBCA8DF027}"/>
              </a:ext>
            </a:extLst>
          </p:cNvPr>
          <p:cNvSpPr txBox="1"/>
          <p:nvPr/>
        </p:nvSpPr>
        <p:spPr>
          <a:xfrm>
            <a:off x="838200" y="2165049"/>
            <a:ext cx="819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Die finale Kurve befindet sich innerhalb der „</a:t>
            </a:r>
            <a:r>
              <a:rPr lang="de-DE" b="1" i="1" dirty="0"/>
              <a:t>konvexen Hülle</a:t>
            </a:r>
            <a:r>
              <a:rPr lang="de-DE" dirty="0"/>
              <a:t>“ der Kontrollpunkte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EA3D9C6-520A-928E-0845-E09EABE175EE}"/>
              </a:ext>
            </a:extLst>
          </p:cNvPr>
          <p:cNvSpPr/>
          <p:nvPr/>
        </p:nvSpPr>
        <p:spPr>
          <a:xfrm>
            <a:off x="2863803" y="5581650"/>
            <a:ext cx="110378" cy="1103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C244C96-D59F-1462-CD0E-750EA5712E54}"/>
              </a:ext>
            </a:extLst>
          </p:cNvPr>
          <p:cNvSpPr/>
          <p:nvPr/>
        </p:nvSpPr>
        <p:spPr>
          <a:xfrm>
            <a:off x="7097385" y="3737161"/>
            <a:ext cx="110378" cy="1103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150FF32-3825-9147-E655-AB9A2EC8C213}"/>
              </a:ext>
            </a:extLst>
          </p:cNvPr>
          <p:cNvSpPr/>
          <p:nvPr/>
        </p:nvSpPr>
        <p:spPr>
          <a:xfrm>
            <a:off x="4811716" y="4237022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29AE157-E81D-DD8B-A787-E7BD19CC452D}"/>
              </a:ext>
            </a:extLst>
          </p:cNvPr>
          <p:cNvSpPr/>
          <p:nvPr/>
        </p:nvSpPr>
        <p:spPr>
          <a:xfrm>
            <a:off x="3536157" y="3681972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87D5766-B216-F692-7AF0-BD8A78D144B2}"/>
              </a:ext>
            </a:extLst>
          </p:cNvPr>
          <p:cNvSpPr/>
          <p:nvPr/>
        </p:nvSpPr>
        <p:spPr>
          <a:xfrm>
            <a:off x="5557699" y="3209083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E4AF48D-D942-9BCF-0853-A474EA7DF8A0}"/>
              </a:ext>
            </a:extLst>
          </p:cNvPr>
          <p:cNvSpPr txBox="1"/>
          <p:nvPr/>
        </p:nvSpPr>
        <p:spPr>
          <a:xfrm>
            <a:off x="2300691" y="5692028"/>
            <a:ext cx="123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Startpunkt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2086200-CA20-5362-15CD-C3426878C880}"/>
              </a:ext>
            </a:extLst>
          </p:cNvPr>
          <p:cNvSpPr txBox="1"/>
          <p:nvPr/>
        </p:nvSpPr>
        <p:spPr>
          <a:xfrm>
            <a:off x="7207763" y="3607684"/>
            <a:ext cx="114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Endpunkt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7C2664E-FAC3-B526-641C-4589571BC0E8}"/>
              </a:ext>
            </a:extLst>
          </p:cNvPr>
          <p:cNvSpPr txBox="1"/>
          <p:nvPr/>
        </p:nvSpPr>
        <p:spPr>
          <a:xfrm>
            <a:off x="4914010" y="429221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P₁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E983C2F-82C7-998C-D76B-99048CF220FD}"/>
              </a:ext>
            </a:extLst>
          </p:cNvPr>
          <p:cNvSpPr txBox="1"/>
          <p:nvPr/>
        </p:nvSpPr>
        <p:spPr>
          <a:xfrm>
            <a:off x="3112301" y="354776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P₂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98831E7-21E0-7B83-C286-00B546229AF2}"/>
              </a:ext>
            </a:extLst>
          </p:cNvPr>
          <p:cNvSpPr txBox="1"/>
          <p:nvPr/>
        </p:nvSpPr>
        <p:spPr>
          <a:xfrm>
            <a:off x="5216626" y="326427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P₃</a:t>
            </a: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4B160464-0EF9-45A3-5CE1-AA95B8598E91}"/>
              </a:ext>
            </a:extLst>
          </p:cNvPr>
          <p:cNvCxnSpPr>
            <a:cxnSpLocks/>
            <a:stCxn id="10" idx="2"/>
            <a:endCxn id="14" idx="1"/>
          </p:cNvCxnSpPr>
          <p:nvPr/>
        </p:nvCxnSpPr>
        <p:spPr>
          <a:xfrm flipV="1">
            <a:off x="2863803" y="3698136"/>
            <a:ext cx="688518" cy="1938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9BD140F-036A-FCF3-3859-DAC397F75E4A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flipV="1">
            <a:off x="3552321" y="3209083"/>
            <a:ext cx="2060567" cy="489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593A86BE-4376-73D6-3751-78FA4887D92F}"/>
              </a:ext>
            </a:extLst>
          </p:cNvPr>
          <p:cNvCxnSpPr>
            <a:cxnSpLocks/>
            <a:stCxn id="15" idx="0"/>
            <a:endCxn id="11" idx="7"/>
          </p:cNvCxnSpPr>
          <p:nvPr/>
        </p:nvCxnSpPr>
        <p:spPr>
          <a:xfrm>
            <a:off x="5612888" y="3209083"/>
            <a:ext cx="1578711" cy="5442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94761A3-CBF3-FC39-BAFB-FC67F5294747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5121984" y="3792350"/>
            <a:ext cx="2085779" cy="927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7FC60760-87FC-4FE8-9124-692D96F54B7C}"/>
              </a:ext>
            </a:extLst>
          </p:cNvPr>
          <p:cNvCxnSpPr>
            <a:cxnSpLocks/>
            <a:stCxn id="10" idx="4"/>
          </p:cNvCxnSpPr>
          <p:nvPr/>
        </p:nvCxnSpPr>
        <p:spPr>
          <a:xfrm flipV="1">
            <a:off x="2918992" y="4719638"/>
            <a:ext cx="2202992" cy="972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30F7AA32-5C3D-6302-B756-8C03053FDC8A}"/>
              </a:ext>
            </a:extLst>
          </p:cNvPr>
          <p:cNvCxnSpPr>
            <a:cxnSpLocks/>
          </p:cNvCxnSpPr>
          <p:nvPr/>
        </p:nvCxnSpPr>
        <p:spPr>
          <a:xfrm flipV="1">
            <a:off x="6402243" y="3336698"/>
            <a:ext cx="1456204" cy="145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F6BAE859-4709-C765-1473-676724A9A950}"/>
              </a:ext>
            </a:extLst>
          </p:cNvPr>
          <p:cNvSpPr txBox="1"/>
          <p:nvPr/>
        </p:nvSpPr>
        <p:spPr>
          <a:xfrm>
            <a:off x="7778467" y="3152032"/>
            <a:ext cx="1770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„konvexe Hülle“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AA95227-1A99-43D0-A539-0CB7BCC927E5}"/>
                  </a:ext>
                </a:extLst>
              </p:cNvPr>
              <p:cNvSpPr txBox="1"/>
              <p:nvPr/>
            </p:nvSpPr>
            <p:spPr>
              <a:xfrm>
                <a:off x="2300690" y="6226628"/>
                <a:ext cx="286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AA95227-1A99-43D0-A539-0CB7BCC92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690" y="6226628"/>
                <a:ext cx="286417" cy="276999"/>
              </a:xfrm>
              <a:prstGeom prst="rect">
                <a:avLst/>
              </a:prstGeom>
              <a:blipFill>
                <a:blip r:embed="rId3"/>
                <a:stretch>
                  <a:fillRect l="-2128" r="-63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F7896D8A-52D5-2D0E-363F-8A47F887EFB9}"/>
              </a:ext>
            </a:extLst>
          </p:cNvPr>
          <p:cNvSpPr txBox="1"/>
          <p:nvPr/>
        </p:nvSpPr>
        <p:spPr>
          <a:xfrm>
            <a:off x="2587107" y="6169709"/>
            <a:ext cx="835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Die „</a:t>
            </a:r>
            <a:r>
              <a:rPr lang="de-DE" b="1" i="1" dirty="0"/>
              <a:t>konvexe Hülle</a:t>
            </a:r>
            <a:r>
              <a:rPr lang="de-DE" dirty="0"/>
              <a:t>“ bildet sich wie ein Gummiband, welches man spannt</a:t>
            </a:r>
          </a:p>
        </p:txBody>
      </p:sp>
    </p:spTree>
    <p:extLst>
      <p:ext uri="{BB962C8B-B14F-4D97-AF65-F5344CB8AC3E}">
        <p14:creationId xmlns:p14="http://schemas.microsoft.com/office/powerpoint/2010/main" val="224271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BB028-6F85-71C8-243D-01C0461BE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5EC44-9CDF-D80C-44DC-404A6528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CEBBFEB-9FC4-0D20-9A9C-040B51C06E86}"/>
                  </a:ext>
                </a:extLst>
              </p:cNvPr>
              <p:cNvSpPr txBox="1"/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CEBBFEB-9FC4-0D20-9A9C-040B51C06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5B1B4777-DA4B-EF7C-4BBC-80B919E35A5B}"/>
              </a:ext>
            </a:extLst>
          </p:cNvPr>
          <p:cNvSpPr txBox="1"/>
          <p:nvPr/>
        </p:nvSpPr>
        <p:spPr>
          <a:xfrm>
            <a:off x="838200" y="2165049"/>
            <a:ext cx="819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Die finale Kurve befindet sich innerhalb der „</a:t>
            </a:r>
            <a:r>
              <a:rPr lang="de-DE" b="1" i="1" dirty="0"/>
              <a:t>konvexen Hülle</a:t>
            </a:r>
            <a:r>
              <a:rPr lang="de-DE" dirty="0"/>
              <a:t>“ der Kontrollpunkte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4370094-2771-9232-5F0B-6DDA42E16555}"/>
              </a:ext>
            </a:extLst>
          </p:cNvPr>
          <p:cNvSpPr txBox="1"/>
          <p:nvPr/>
        </p:nvSpPr>
        <p:spPr>
          <a:xfrm>
            <a:off x="838200" y="2646919"/>
            <a:ext cx="835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Die Summe der „gewichte der Punkte“ ist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E7A2EBB7-C8AB-8E4E-5C84-2B3DF6E36991}"/>
                  </a:ext>
                </a:extLst>
              </p:cNvPr>
              <p:cNvSpPr txBox="1"/>
              <p:nvPr/>
            </p:nvSpPr>
            <p:spPr>
              <a:xfrm>
                <a:off x="897591" y="3065661"/>
                <a:ext cx="286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E7A2EBB7-C8AB-8E4E-5C84-2B3DF6E36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3065661"/>
                <a:ext cx="286417" cy="276999"/>
              </a:xfrm>
              <a:prstGeom prst="rect">
                <a:avLst/>
              </a:prstGeom>
              <a:blipFill>
                <a:blip r:embed="rId3"/>
                <a:stretch>
                  <a:fillRect l="-2128" r="-63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feld 11">
            <a:extLst>
              <a:ext uri="{FF2B5EF4-FFF2-40B4-BE49-F238E27FC236}">
                <a16:creationId xmlns:a16="http://schemas.microsoft.com/office/drawing/2014/main" id="{C612FAAF-2912-07E8-EC5D-90740FA8ABE4}"/>
              </a:ext>
            </a:extLst>
          </p:cNvPr>
          <p:cNvSpPr txBox="1"/>
          <p:nvPr/>
        </p:nvSpPr>
        <p:spPr>
          <a:xfrm>
            <a:off x="1184008" y="3008742"/>
            <a:ext cx="835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Ein einziges „Gewicht“ kann maximal 1 sein (nicht mehr)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ECD44F3-A12F-5D41-1186-1F984375011D}"/>
                  </a:ext>
                </a:extLst>
              </p:cNvPr>
              <p:cNvSpPr txBox="1"/>
              <p:nvPr/>
            </p:nvSpPr>
            <p:spPr>
              <a:xfrm>
                <a:off x="897591" y="3448989"/>
                <a:ext cx="286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ECD44F3-A12F-5D41-1186-1F9843750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3448989"/>
                <a:ext cx="286417" cy="276999"/>
              </a:xfrm>
              <a:prstGeom prst="rect">
                <a:avLst/>
              </a:prstGeom>
              <a:blipFill>
                <a:blip r:embed="rId4"/>
                <a:stretch>
                  <a:fillRect l="-2128" r="-63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feld 20">
            <a:extLst>
              <a:ext uri="{FF2B5EF4-FFF2-40B4-BE49-F238E27FC236}">
                <a16:creationId xmlns:a16="http://schemas.microsoft.com/office/drawing/2014/main" id="{98E1DAA5-4A3E-E0A6-646B-B20987DCE21C}"/>
              </a:ext>
            </a:extLst>
          </p:cNvPr>
          <p:cNvSpPr txBox="1"/>
          <p:nvPr/>
        </p:nvSpPr>
        <p:spPr>
          <a:xfrm>
            <a:off x="1184008" y="3392070"/>
            <a:ext cx="835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Wir können maximal genau auf einem (äußeren) Punkt sein (nicht darüber hinaus)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45E8089A-5C28-68BB-CB8E-30B067828FFD}"/>
                  </a:ext>
                </a:extLst>
              </p:cNvPr>
              <p:cNvSpPr txBox="1"/>
              <p:nvPr/>
            </p:nvSpPr>
            <p:spPr>
              <a:xfrm>
                <a:off x="897591" y="3844735"/>
                <a:ext cx="286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45E8089A-5C28-68BB-CB8E-30B067828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3844735"/>
                <a:ext cx="286417" cy="276999"/>
              </a:xfrm>
              <a:prstGeom prst="rect">
                <a:avLst/>
              </a:prstGeom>
              <a:blipFill>
                <a:blip r:embed="rId5"/>
                <a:stretch>
                  <a:fillRect l="-2128" r="-63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D287C880-6EA3-A252-3473-1C5A9C4DFC10}"/>
              </a:ext>
            </a:extLst>
          </p:cNvPr>
          <p:cNvSpPr txBox="1"/>
          <p:nvPr/>
        </p:nvSpPr>
        <p:spPr>
          <a:xfrm>
            <a:off x="1184008" y="3787816"/>
            <a:ext cx="835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Die Kurve befindet sich innerhalb der </a:t>
            </a:r>
            <a:r>
              <a:rPr lang="de-DE" b="1" i="1" dirty="0"/>
              <a:t>konvexen Hülle </a:t>
            </a:r>
            <a:r>
              <a:rPr lang="de-DE" dirty="0"/>
              <a:t>der Kontrollpunkte</a:t>
            </a:r>
            <a:endParaRPr lang="de-DE" b="1" i="1" dirty="0"/>
          </a:p>
        </p:txBody>
      </p:sp>
    </p:spTree>
    <p:extLst>
      <p:ext uri="{BB962C8B-B14F-4D97-AF65-F5344CB8AC3E}">
        <p14:creationId xmlns:p14="http://schemas.microsoft.com/office/powerpoint/2010/main" val="785982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2" grpId="0"/>
      <p:bldP spid="20" grpId="0"/>
      <p:bldP spid="21" grpId="0"/>
      <p:bldP spid="22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4A3AB-80D0-0A05-1BE8-5857494B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C224E-096B-EE78-F856-6544BB3D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III. Bernstein Polynom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0BEE5CC-572B-9D0D-3904-9FB341FC28DD}"/>
              </a:ext>
            </a:extLst>
          </p:cNvPr>
          <p:cNvSpPr txBox="1"/>
          <p:nvPr/>
        </p:nvSpPr>
        <p:spPr>
          <a:xfrm>
            <a:off x="4784912" y="1982432"/>
            <a:ext cx="2064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Quadratisch (n = 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ED99696-0480-6919-FAAC-B97CA0692C0E}"/>
                  </a:ext>
                </a:extLst>
              </p:cNvPr>
              <p:cNvSpPr txBox="1"/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ED99696-0480-6919-FAAC-B97CA0692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1690688"/>
                <a:ext cx="2566921" cy="47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94700D0-6171-0ECF-EF4B-7BAFFDA39C0A}"/>
                  </a:ext>
                </a:extLst>
              </p:cNvPr>
              <p:cNvSpPr txBox="1"/>
              <p:nvPr/>
            </p:nvSpPr>
            <p:spPr>
              <a:xfrm>
                <a:off x="897591" y="2165049"/>
                <a:ext cx="1043491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94700D0-6171-0ECF-EF4B-7BAFFDA39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1" y="2165049"/>
                <a:ext cx="1043491" cy="756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6B9A1D91-9B03-42EF-3D33-C9EF5520A658}"/>
              </a:ext>
            </a:extLst>
          </p:cNvPr>
          <p:cNvSpPr txBox="1"/>
          <p:nvPr/>
        </p:nvSpPr>
        <p:spPr>
          <a:xfrm>
            <a:off x="5114681" y="2205771"/>
            <a:ext cx="1404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n + 1 Kontrollpunkte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30053E06-8024-FF26-AC0B-E27B9DECFDD2}"/>
                  </a:ext>
                </a:extLst>
              </p:cNvPr>
              <p:cNvSpPr txBox="1"/>
              <p:nvPr/>
            </p:nvSpPr>
            <p:spPr>
              <a:xfrm>
                <a:off x="4769235" y="2575103"/>
                <a:ext cx="329628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m:rPr>
                          <m:aln/>
                        </m:rP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30053E06-8024-FF26-AC0B-E27B9DECF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235" y="2575103"/>
                <a:ext cx="3296287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F80D0582-8E8B-D0C4-A11B-331A8A34DB45}"/>
                  </a:ext>
                </a:extLst>
              </p:cNvPr>
              <p:cNvSpPr txBox="1"/>
              <p:nvPr/>
            </p:nvSpPr>
            <p:spPr>
              <a:xfrm>
                <a:off x="4784912" y="3278281"/>
                <a:ext cx="3465372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F80D0582-8E8B-D0C4-A11B-331A8A34D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12" y="3278281"/>
                <a:ext cx="3465372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F90B6E58-9389-919A-843B-95D3FAAFE0DA}"/>
                  </a:ext>
                </a:extLst>
              </p:cNvPr>
              <p:cNvSpPr txBox="1"/>
              <p:nvPr/>
            </p:nvSpPr>
            <p:spPr>
              <a:xfrm>
                <a:off x="4769235" y="3977247"/>
                <a:ext cx="214174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F90B6E58-9389-919A-843B-95D3FAAFE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235" y="3977247"/>
                <a:ext cx="2141740" cy="622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E2407D2A-9A9C-95CD-4FAC-DC378E588041}"/>
                  </a:ext>
                </a:extLst>
              </p:cNvPr>
              <p:cNvSpPr txBox="1"/>
              <p:nvPr/>
            </p:nvSpPr>
            <p:spPr>
              <a:xfrm>
                <a:off x="4769235" y="4622965"/>
                <a:ext cx="3904402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0,2</m:t>
                          </m:r>
                        </m:sub>
                      </m:sSub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E2407D2A-9A9C-95CD-4FAC-DC378E588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235" y="4622965"/>
                <a:ext cx="3904402" cy="7564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854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5" grpId="0"/>
      <p:bldP spid="16" grpId="0"/>
      <p:bldP spid="17" grpId="0"/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AC69-5B11-5A05-6319-B2330D66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698FB-1F05-C644-9C9B-99F22CDC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IV. Zurück in Bézier Kurven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7255CE-441C-2ACC-D11B-5BE022F86440}"/>
              </a:ext>
            </a:extLst>
          </p:cNvPr>
          <p:cNvSpPr txBox="1"/>
          <p:nvPr/>
        </p:nvSpPr>
        <p:spPr>
          <a:xfrm>
            <a:off x="5525653" y="1557707"/>
            <a:ext cx="2064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Quadratisch (n = 2)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B116670-378B-7594-E9F4-08629D7D2D91}"/>
              </a:ext>
            </a:extLst>
          </p:cNvPr>
          <p:cNvSpPr txBox="1"/>
          <p:nvPr/>
        </p:nvSpPr>
        <p:spPr>
          <a:xfrm>
            <a:off x="5855422" y="1781046"/>
            <a:ext cx="1404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n + 1 Kontrollpunkte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B758C5F-3504-E8EB-DCD1-23235B038356}"/>
                  </a:ext>
                </a:extLst>
              </p:cNvPr>
              <p:cNvSpPr txBox="1"/>
              <p:nvPr/>
            </p:nvSpPr>
            <p:spPr>
              <a:xfrm>
                <a:off x="838200" y="2663105"/>
                <a:ext cx="329628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m:rPr>
                          <m:aln/>
                        </m:rP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B758C5F-3504-E8EB-DCD1-23235B038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63105"/>
                <a:ext cx="3296287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9D509F-69DD-1091-D8E8-79E1DE56C5C4}"/>
                  </a:ext>
                </a:extLst>
              </p:cNvPr>
              <p:cNvSpPr txBox="1"/>
              <p:nvPr/>
            </p:nvSpPr>
            <p:spPr>
              <a:xfrm>
                <a:off x="853877" y="3366283"/>
                <a:ext cx="3465372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m:rPr>
                          <m:aln/>
                        </m:rP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9D509F-69DD-1091-D8E8-79E1DE56C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877" y="3366283"/>
                <a:ext cx="3465372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1DCB37B6-B09C-1CDD-67BB-C5D547069D76}"/>
                  </a:ext>
                </a:extLst>
              </p:cNvPr>
              <p:cNvSpPr txBox="1"/>
              <p:nvPr/>
            </p:nvSpPr>
            <p:spPr>
              <a:xfrm>
                <a:off x="838200" y="4065249"/>
                <a:ext cx="212327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m:rPr>
                          <m:aln/>
                        </m:rP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1DCB37B6-B09C-1CDD-67BB-C5D547069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65249"/>
                <a:ext cx="2123274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EC42D6D-5B33-8681-434D-9F69C7BA88BD}"/>
                  </a:ext>
                </a:extLst>
              </p:cNvPr>
              <p:cNvSpPr txBox="1"/>
              <p:nvPr/>
            </p:nvSpPr>
            <p:spPr>
              <a:xfrm>
                <a:off x="5280212" y="2505057"/>
                <a:ext cx="2987488" cy="778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d>
                        <m:d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de-DE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EC42D6D-5B33-8681-434D-9F69C7BA8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212" y="2505057"/>
                <a:ext cx="2987488" cy="778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2405979A-0D57-0501-6B03-AF4E69500C03}"/>
                  </a:ext>
                </a:extLst>
              </p:cNvPr>
              <p:cNvSpPr txBox="1"/>
              <p:nvPr/>
            </p:nvSpPr>
            <p:spPr>
              <a:xfrm>
                <a:off x="8454266" y="2744770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2405979A-0D57-0501-6B03-AF4E69500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266" y="2744770"/>
                <a:ext cx="318998" cy="276999"/>
              </a:xfrm>
              <a:prstGeom prst="rect">
                <a:avLst/>
              </a:prstGeom>
              <a:blipFill>
                <a:blip r:embed="rId6"/>
                <a:stretch>
                  <a:fillRect l="-13462" r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AED168F-40D3-2E3B-CB0F-514AD73E9B1B}"/>
                  </a:ext>
                </a:extLst>
              </p:cNvPr>
              <p:cNvSpPr txBox="1"/>
              <p:nvPr/>
            </p:nvSpPr>
            <p:spPr>
              <a:xfrm>
                <a:off x="8851526" y="2506459"/>
                <a:ext cx="2047292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AED168F-40D3-2E3B-CB0F-514AD73E9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526" y="2506459"/>
                <a:ext cx="2047292" cy="778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CE631428-9E86-3C40-3414-5B04A68F6629}"/>
                  </a:ext>
                </a:extLst>
              </p:cNvPr>
              <p:cNvSpPr txBox="1"/>
              <p:nvPr/>
            </p:nvSpPr>
            <p:spPr>
              <a:xfrm>
                <a:off x="5280212" y="3776067"/>
                <a:ext cx="4024756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CE631428-9E86-3C40-3414-5B04A68F6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212" y="3776067"/>
                <a:ext cx="4024756" cy="289182"/>
              </a:xfrm>
              <a:prstGeom prst="rect">
                <a:avLst/>
              </a:prstGeom>
              <a:blipFill>
                <a:blip r:embed="rId8"/>
                <a:stretch>
                  <a:fillRect l="-909" r="-303" b="-104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B21F53F8-7271-D43E-674D-C888E5737C77}"/>
                  </a:ext>
                </a:extLst>
              </p:cNvPr>
              <p:cNvSpPr txBox="1"/>
              <p:nvPr/>
            </p:nvSpPr>
            <p:spPr>
              <a:xfrm>
                <a:off x="5280212" y="4555861"/>
                <a:ext cx="39460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B21F53F8-7271-D43E-674D-C888E573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212" y="4555861"/>
                <a:ext cx="3946017" cy="276999"/>
              </a:xfrm>
              <a:prstGeom prst="rect">
                <a:avLst/>
              </a:prstGeom>
              <a:blipFill>
                <a:blip r:embed="rId9"/>
                <a:stretch>
                  <a:fillRect l="-927" r="-309"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60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1" grpId="0"/>
      <p:bldP spid="12" grpId="0"/>
      <p:bldP spid="14" grpId="0"/>
      <p:bldP spid="19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7DE5-BEEA-1E67-1B58-1904E2DD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6EAE3-4871-3B3A-6D6D-B5D15940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IV. Zurück in Bézier Kurven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74EC85D-760B-0358-AFCD-D8EBD0FE165B}"/>
                  </a:ext>
                </a:extLst>
              </p:cNvPr>
              <p:cNvSpPr txBox="1"/>
              <p:nvPr/>
            </p:nvSpPr>
            <p:spPr>
              <a:xfrm>
                <a:off x="3417794" y="1690688"/>
                <a:ext cx="39460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74EC85D-760B-0358-AFCD-D8EBD0FE1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794" y="1690688"/>
                <a:ext cx="3946017" cy="276999"/>
              </a:xfrm>
              <a:prstGeom prst="rect">
                <a:avLst/>
              </a:prstGeom>
              <a:blipFill>
                <a:blip r:embed="rId2"/>
                <a:stretch>
                  <a:fillRect l="-1082" r="-309"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7F6C5228-FADC-AFED-33DA-A0FF90717954}"/>
              </a:ext>
            </a:extLst>
          </p:cNvPr>
          <p:cNvSpPr/>
          <p:nvPr/>
        </p:nvSpPr>
        <p:spPr>
          <a:xfrm>
            <a:off x="4249270" y="2236321"/>
            <a:ext cx="1559859" cy="1559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E43EE1F-09DF-E4CF-8AE6-D7BB6A731649}"/>
              </a:ext>
            </a:extLst>
          </p:cNvPr>
          <p:cNvSpPr/>
          <p:nvPr/>
        </p:nvSpPr>
        <p:spPr>
          <a:xfrm>
            <a:off x="4199875" y="2181132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3EBB5A4-4B97-C463-C9A4-D8DCE335D51B}"/>
              </a:ext>
            </a:extLst>
          </p:cNvPr>
          <p:cNvSpPr txBox="1"/>
          <p:nvPr/>
        </p:nvSpPr>
        <p:spPr>
          <a:xfrm>
            <a:off x="3362489" y="2227298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P₁ (0|0)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7BA8D29-F9F4-22EA-AF02-D199EA684B75}"/>
              </a:ext>
            </a:extLst>
          </p:cNvPr>
          <p:cNvSpPr/>
          <p:nvPr/>
        </p:nvSpPr>
        <p:spPr>
          <a:xfrm>
            <a:off x="4199875" y="3740991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1846C32-E5C7-BCBD-8EF1-D0A5328CF52A}"/>
              </a:ext>
            </a:extLst>
          </p:cNvPr>
          <p:cNvSpPr txBox="1"/>
          <p:nvPr/>
        </p:nvSpPr>
        <p:spPr>
          <a:xfrm>
            <a:off x="4302169" y="3796180"/>
            <a:ext cx="172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Startpunkt (0|1)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E272CE8-407F-55ED-36BD-E31C86CCBD97}"/>
              </a:ext>
            </a:extLst>
          </p:cNvPr>
          <p:cNvSpPr/>
          <p:nvPr/>
        </p:nvSpPr>
        <p:spPr>
          <a:xfrm>
            <a:off x="5756230" y="2181132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DD87B0A-F2C0-615A-0312-3F1576F95C92}"/>
              </a:ext>
            </a:extLst>
          </p:cNvPr>
          <p:cNvSpPr txBox="1"/>
          <p:nvPr/>
        </p:nvSpPr>
        <p:spPr>
          <a:xfrm>
            <a:off x="5858524" y="2236321"/>
            <a:ext cx="1630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Endpunkt (1|0)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B7341F2-CB59-4766-6088-3E2DA1D9D95D}"/>
              </a:ext>
            </a:extLst>
          </p:cNvPr>
          <p:cNvSpPr txBox="1"/>
          <p:nvPr/>
        </p:nvSpPr>
        <p:spPr>
          <a:xfrm>
            <a:off x="4373694" y="4157147"/>
            <a:ext cx="1582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Für</a:t>
            </a:r>
            <a:r>
              <a:rPr lang="de-DE" b="1" i="1" dirty="0"/>
              <a:t> t = 0,5 </a:t>
            </a:r>
            <a:r>
              <a:rPr lang="de-DE" dirty="0"/>
              <a:t>gilt:</a:t>
            </a:r>
            <a:endParaRPr lang="de-DE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1DB6C230-C226-DF57-5A3F-5A18A49C8E20}"/>
                  </a:ext>
                </a:extLst>
              </p:cNvPr>
              <p:cNvSpPr txBox="1"/>
              <p:nvPr/>
            </p:nvSpPr>
            <p:spPr>
              <a:xfrm>
                <a:off x="3417794" y="4848207"/>
                <a:ext cx="55631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0,5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×0,5 ×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1DB6C230-C226-DF57-5A3F-5A18A49C8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794" y="4848207"/>
                <a:ext cx="5563190" cy="276999"/>
              </a:xfrm>
              <a:prstGeom prst="rect">
                <a:avLst/>
              </a:prstGeom>
              <a:blipFill>
                <a:blip r:embed="rId3"/>
                <a:stretch>
                  <a:fillRect l="-658" r="-110"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1BD0F3D-ED53-496B-8BB1-4E4F4CF66243}"/>
                  </a:ext>
                </a:extLst>
              </p:cNvPr>
              <p:cNvSpPr txBox="1"/>
              <p:nvPr/>
            </p:nvSpPr>
            <p:spPr>
              <a:xfrm>
                <a:off x="3355531" y="5134229"/>
                <a:ext cx="5345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,25×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×0,5 ×0,5×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,25×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1BD0F3D-ED53-496B-8BB1-4E4F4CF66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531" y="5134229"/>
                <a:ext cx="5345245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3EAF9B96-A5A7-83CB-021E-9A0985F7BCD4}"/>
                  </a:ext>
                </a:extLst>
              </p:cNvPr>
              <p:cNvSpPr txBox="1"/>
              <p:nvPr/>
            </p:nvSpPr>
            <p:spPr>
              <a:xfrm>
                <a:off x="3127931" y="5125206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3EAF9B96-A5A7-83CB-021E-9A0985F7B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931" y="5125206"/>
                <a:ext cx="318998" cy="276999"/>
              </a:xfrm>
              <a:prstGeom prst="rect">
                <a:avLst/>
              </a:prstGeom>
              <a:blipFill>
                <a:blip r:embed="rId5"/>
                <a:stretch>
                  <a:fillRect l="-11538" r="-153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64A89463-5B67-90E3-B825-DD9B64CE5630}"/>
                  </a:ext>
                </a:extLst>
              </p:cNvPr>
              <p:cNvSpPr txBox="1"/>
              <p:nvPr/>
            </p:nvSpPr>
            <p:spPr>
              <a:xfrm>
                <a:off x="3355531" y="5438297"/>
                <a:ext cx="4325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,25×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0,5×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,25×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64A89463-5B67-90E3-B825-DD9B64CE5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531" y="5438297"/>
                <a:ext cx="4325736" cy="276999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0A7B9F74-BFAC-DE60-67A6-6839F421A50F}"/>
                  </a:ext>
                </a:extLst>
              </p:cNvPr>
              <p:cNvSpPr txBox="1"/>
              <p:nvPr/>
            </p:nvSpPr>
            <p:spPr>
              <a:xfrm>
                <a:off x="3127931" y="5420251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0A7B9F74-BFAC-DE60-67A6-6839F421A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931" y="5420251"/>
                <a:ext cx="318998" cy="276999"/>
              </a:xfrm>
              <a:prstGeom prst="rect">
                <a:avLst/>
              </a:prstGeom>
              <a:blipFill>
                <a:blip r:embed="rId7"/>
                <a:stretch>
                  <a:fillRect l="-11538" r="-153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482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3" grpId="0" animBg="1"/>
      <p:bldP spid="15" grpId="0"/>
      <p:bldP spid="16" grpId="0" animBg="1"/>
      <p:bldP spid="17" grpId="0"/>
      <p:bldP spid="18" grpId="0"/>
      <p:bldP spid="22" grpId="0"/>
      <p:bldP spid="23" grpId="0"/>
      <p:bldP spid="24" grpId="0"/>
      <p:bldP spid="25" grpId="0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306B0-DBC3-C994-BCB6-27A7F030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6346A-230D-B0CC-0B50-73E95D141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IV. Zurück in Bézier Kurven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056AFA2-6719-6EEF-C66F-3E7B60F5292E}"/>
                  </a:ext>
                </a:extLst>
              </p:cNvPr>
              <p:cNvSpPr txBox="1"/>
              <p:nvPr/>
            </p:nvSpPr>
            <p:spPr>
              <a:xfrm>
                <a:off x="3417794" y="1690688"/>
                <a:ext cx="39460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056AFA2-6719-6EEF-C66F-3E7B60F52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794" y="1690688"/>
                <a:ext cx="3946017" cy="276999"/>
              </a:xfrm>
              <a:prstGeom prst="rect">
                <a:avLst/>
              </a:prstGeom>
              <a:blipFill>
                <a:blip r:embed="rId2"/>
                <a:stretch>
                  <a:fillRect l="-1082" r="-309"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25B76501-A900-FDD1-9E0D-FC1ABAF780C4}"/>
              </a:ext>
            </a:extLst>
          </p:cNvPr>
          <p:cNvSpPr/>
          <p:nvPr/>
        </p:nvSpPr>
        <p:spPr>
          <a:xfrm>
            <a:off x="4249270" y="2236321"/>
            <a:ext cx="1559859" cy="1559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EF95B7B-34CC-45A2-2A13-8672A13338B5}"/>
              </a:ext>
            </a:extLst>
          </p:cNvPr>
          <p:cNvSpPr/>
          <p:nvPr/>
        </p:nvSpPr>
        <p:spPr>
          <a:xfrm>
            <a:off x="4199875" y="2181132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266B5F8-1D2C-44CF-91AF-9D866A357362}"/>
              </a:ext>
            </a:extLst>
          </p:cNvPr>
          <p:cNvSpPr/>
          <p:nvPr/>
        </p:nvSpPr>
        <p:spPr>
          <a:xfrm>
            <a:off x="4199875" y="3740991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1F021D1-071A-A675-1027-CD1515D15A88}"/>
              </a:ext>
            </a:extLst>
          </p:cNvPr>
          <p:cNvSpPr txBox="1"/>
          <p:nvPr/>
        </p:nvSpPr>
        <p:spPr>
          <a:xfrm>
            <a:off x="4302169" y="3796180"/>
            <a:ext cx="172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Startpunkt (0|1)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64FED9-C73C-2604-1F7F-B3613EDA104D}"/>
              </a:ext>
            </a:extLst>
          </p:cNvPr>
          <p:cNvSpPr/>
          <p:nvPr/>
        </p:nvSpPr>
        <p:spPr>
          <a:xfrm>
            <a:off x="5756230" y="2181132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16A941B-74E9-6DE3-5CC2-7BC5CB237CFE}"/>
              </a:ext>
            </a:extLst>
          </p:cNvPr>
          <p:cNvSpPr txBox="1"/>
          <p:nvPr/>
        </p:nvSpPr>
        <p:spPr>
          <a:xfrm>
            <a:off x="5858524" y="2236321"/>
            <a:ext cx="1630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Endpunkt (1|0)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0568B0B-091B-CE67-D2D9-ACFCDF5095A3}"/>
              </a:ext>
            </a:extLst>
          </p:cNvPr>
          <p:cNvSpPr txBox="1"/>
          <p:nvPr/>
        </p:nvSpPr>
        <p:spPr>
          <a:xfrm>
            <a:off x="4373694" y="4157147"/>
            <a:ext cx="1582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Für</a:t>
            </a:r>
            <a:r>
              <a:rPr lang="de-DE" b="1" i="1" dirty="0"/>
              <a:t> t = 0,5 </a:t>
            </a:r>
            <a:r>
              <a:rPr lang="de-DE" dirty="0"/>
              <a:t>gilt:</a:t>
            </a:r>
            <a:endParaRPr lang="de-DE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BCCC99CB-D091-292B-D126-E8FB9AA6B73C}"/>
                  </a:ext>
                </a:extLst>
              </p:cNvPr>
              <p:cNvSpPr txBox="1"/>
              <p:nvPr/>
            </p:nvSpPr>
            <p:spPr>
              <a:xfrm>
                <a:off x="3355531" y="4544361"/>
                <a:ext cx="4325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,25×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0,5×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,25×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BCCC99CB-D091-292B-D126-E8FB9AA6B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531" y="4544361"/>
                <a:ext cx="4325736" cy="276999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37075E49-3F95-1FA1-7C70-9264751326AA}"/>
                  </a:ext>
                </a:extLst>
              </p:cNvPr>
              <p:cNvSpPr txBox="1"/>
              <p:nvPr/>
            </p:nvSpPr>
            <p:spPr>
              <a:xfrm>
                <a:off x="3413932" y="4841397"/>
                <a:ext cx="4018728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25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25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37075E49-3F95-1FA1-7C70-926475132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32" y="4841397"/>
                <a:ext cx="4018728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588F4CB3-187E-F925-1CCA-A9D1C45512F5}"/>
                  </a:ext>
                </a:extLst>
              </p:cNvPr>
              <p:cNvSpPr txBox="1"/>
              <p:nvPr/>
            </p:nvSpPr>
            <p:spPr>
              <a:xfrm>
                <a:off x="3413932" y="5483784"/>
                <a:ext cx="417678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0+0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0+0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1+0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0+0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588F4CB3-187E-F925-1CCA-A9D1C4551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32" y="5483784"/>
                <a:ext cx="4176784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65C1E2B-F732-9AA0-4465-C993A98F9725}"/>
                  </a:ext>
                </a:extLst>
              </p:cNvPr>
              <p:cNvSpPr txBox="1"/>
              <p:nvPr/>
            </p:nvSpPr>
            <p:spPr>
              <a:xfrm>
                <a:off x="3452097" y="6156980"/>
                <a:ext cx="170014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65C1E2B-F732-9AA0-4465-C993A98F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097" y="6156980"/>
                <a:ext cx="1700144" cy="622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2A013E20-0449-61A1-F379-815F1D281E8B}"/>
              </a:ext>
            </a:extLst>
          </p:cNvPr>
          <p:cNvSpPr txBox="1"/>
          <p:nvPr/>
        </p:nvSpPr>
        <p:spPr>
          <a:xfrm>
            <a:off x="3362489" y="2227298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P₁ (0|0)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A831C9E1-1CE2-3CE5-4AA2-291742664722}"/>
                  </a:ext>
                </a:extLst>
              </p:cNvPr>
              <p:cNvSpPr txBox="1"/>
              <p:nvPr/>
            </p:nvSpPr>
            <p:spPr>
              <a:xfrm>
                <a:off x="3043491" y="5014072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A831C9E1-1CE2-3CE5-4AA2-291742664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491" y="5014072"/>
                <a:ext cx="318998" cy="276999"/>
              </a:xfrm>
              <a:prstGeom prst="rect">
                <a:avLst/>
              </a:prstGeom>
              <a:blipFill>
                <a:blip r:embed="rId7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9B7E897-CE94-37E4-ECF3-33B3A19A03DC}"/>
                  </a:ext>
                </a:extLst>
              </p:cNvPr>
              <p:cNvSpPr txBox="1"/>
              <p:nvPr/>
            </p:nvSpPr>
            <p:spPr>
              <a:xfrm>
                <a:off x="3036533" y="5656459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9B7E897-CE94-37E4-ECF3-33B3A19A0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533" y="5656459"/>
                <a:ext cx="318998" cy="276999"/>
              </a:xfrm>
              <a:prstGeom prst="rect">
                <a:avLst/>
              </a:prstGeom>
              <a:blipFill>
                <a:blip r:embed="rId8"/>
                <a:stretch>
                  <a:fillRect l="-11538" r="-153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2E0B5DD-6176-A253-942D-75389A693CE5}"/>
                  </a:ext>
                </a:extLst>
              </p:cNvPr>
              <p:cNvSpPr txBox="1"/>
              <p:nvPr/>
            </p:nvSpPr>
            <p:spPr>
              <a:xfrm>
                <a:off x="3043491" y="6329655"/>
                <a:ext cx="318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2E0B5DD-6176-A253-942D-75389A693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491" y="6329655"/>
                <a:ext cx="318998" cy="276999"/>
              </a:xfrm>
              <a:prstGeom prst="rect">
                <a:avLst/>
              </a:prstGeom>
              <a:blipFill>
                <a:blip r:embed="rId9"/>
                <a:stretch>
                  <a:fillRect l="-11321" r="-132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lipse 10">
            <a:extLst>
              <a:ext uri="{FF2B5EF4-FFF2-40B4-BE49-F238E27FC236}">
                <a16:creationId xmlns:a16="http://schemas.microsoft.com/office/drawing/2014/main" id="{1255ADA7-8E2F-0EDF-54EB-BF956A9D24FB}"/>
              </a:ext>
            </a:extLst>
          </p:cNvPr>
          <p:cNvSpPr/>
          <p:nvPr/>
        </p:nvSpPr>
        <p:spPr>
          <a:xfrm>
            <a:off x="4606275" y="2538474"/>
            <a:ext cx="110378" cy="11037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F3DAE47F-BB8B-1E93-7853-3D02D321BE56}"/>
              </a:ext>
            </a:extLst>
          </p:cNvPr>
          <p:cNvSpPr/>
          <p:nvPr/>
        </p:nvSpPr>
        <p:spPr>
          <a:xfrm>
            <a:off x="4248150" y="2241550"/>
            <a:ext cx="1562100" cy="1549400"/>
          </a:xfrm>
          <a:custGeom>
            <a:avLst/>
            <a:gdLst>
              <a:gd name="connsiteX0" fmla="*/ 0 w 1562100"/>
              <a:gd name="connsiteY0" fmla="*/ 1549400 h 1549400"/>
              <a:gd name="connsiteX1" fmla="*/ 406400 w 1562100"/>
              <a:gd name="connsiteY1" fmla="*/ 355600 h 1549400"/>
              <a:gd name="connsiteX2" fmla="*/ 1562100 w 1562100"/>
              <a:gd name="connsiteY2" fmla="*/ 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2100" h="1549400">
                <a:moveTo>
                  <a:pt x="0" y="1549400"/>
                </a:moveTo>
                <a:cubicBezTo>
                  <a:pt x="73025" y="1081616"/>
                  <a:pt x="146050" y="613833"/>
                  <a:pt x="406400" y="355600"/>
                </a:cubicBezTo>
                <a:cubicBezTo>
                  <a:pt x="666750" y="97367"/>
                  <a:pt x="1114425" y="48683"/>
                  <a:pt x="1562100" y="0"/>
                </a:cubicBezTo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693527D-D065-52E4-BAE8-BAFAC205B4E3}"/>
                  </a:ext>
                </a:extLst>
              </p:cNvPr>
              <p:cNvSpPr txBox="1"/>
              <p:nvPr/>
            </p:nvSpPr>
            <p:spPr>
              <a:xfrm>
                <a:off x="4592600" y="2668777"/>
                <a:ext cx="18515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𝑟𝑒𝑠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693527D-D065-52E4-BAE8-BAFAC205B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600" y="2668777"/>
                <a:ext cx="1851597" cy="276999"/>
              </a:xfrm>
              <a:prstGeom prst="rect">
                <a:avLst/>
              </a:prstGeom>
              <a:blipFill>
                <a:blip r:embed="rId10"/>
                <a:stretch>
                  <a:fillRect l="-2632" b="-1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895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  <p:bldP spid="5" grpId="0"/>
      <p:bldP spid="6" grpId="0"/>
      <p:bldP spid="7" grpId="0"/>
      <p:bldP spid="11" grpId="0" animBg="1"/>
      <p:bldP spid="12" grpId="0" animBg="1"/>
      <p:bldP spid="2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BDA78-F3D4-EF46-0D7D-310DCA434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78885A-6962-304E-F8D7-CBEFFE79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V. Anwendung von Bézier Kurven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EC07D2E-D1D3-C6E9-9C78-AEB715DA190A}"/>
              </a:ext>
            </a:extLst>
          </p:cNvPr>
          <p:cNvSpPr txBox="1"/>
          <p:nvPr/>
        </p:nvSpPr>
        <p:spPr>
          <a:xfrm>
            <a:off x="1022350" y="1690688"/>
            <a:ext cx="65065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Animationen („</a:t>
            </a:r>
            <a:r>
              <a:rPr lang="de-DE" dirty="0" err="1"/>
              <a:t>Smoothing</a:t>
            </a:r>
            <a:r>
              <a:rPr lang="de-DE" dirty="0"/>
              <a:t>“)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Industrie ( Autos, Luftfahrt (Aerodynamik), Maschinenbau,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 Vektorgrafiken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Schriftarten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933D1BC-E94D-A4F3-10AC-7895A31266F8}"/>
              </a:ext>
            </a:extLst>
          </p:cNvPr>
          <p:cNvCxnSpPr>
            <a:cxnSpLocks/>
          </p:cNvCxnSpPr>
          <p:nvPr/>
        </p:nvCxnSpPr>
        <p:spPr>
          <a:xfrm flipH="1" flipV="1">
            <a:off x="2006600" y="990600"/>
            <a:ext cx="641350" cy="16700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012E27A-C99E-73EB-6123-7019F1DEA249}"/>
              </a:ext>
            </a:extLst>
          </p:cNvPr>
          <p:cNvCxnSpPr>
            <a:cxnSpLocks/>
          </p:cNvCxnSpPr>
          <p:nvPr/>
        </p:nvCxnSpPr>
        <p:spPr>
          <a:xfrm flipV="1">
            <a:off x="2647950" y="990600"/>
            <a:ext cx="4343400" cy="16700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AC8836E3-0E72-93DB-4B7D-86EC75ED1FB3}"/>
                  </a:ext>
                </a:extLst>
              </p:cNvPr>
              <p:cNvSpPr txBox="1"/>
              <p:nvPr/>
            </p:nvSpPr>
            <p:spPr>
              <a:xfrm>
                <a:off x="1022350" y="2888504"/>
                <a:ext cx="286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AC8836E3-0E72-93DB-4B7D-86EC75ED1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350" y="2888504"/>
                <a:ext cx="286417" cy="276999"/>
              </a:xfrm>
              <a:prstGeom prst="rect">
                <a:avLst/>
              </a:prstGeom>
              <a:blipFill>
                <a:blip r:embed="rId2"/>
                <a:stretch>
                  <a:fillRect l="-4255" r="-42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feld 31">
            <a:extLst>
              <a:ext uri="{FF2B5EF4-FFF2-40B4-BE49-F238E27FC236}">
                <a16:creationId xmlns:a16="http://schemas.microsoft.com/office/drawing/2014/main" id="{D9C0F7FF-3E28-7167-BFAC-DE1F7B0359E1}"/>
              </a:ext>
            </a:extLst>
          </p:cNvPr>
          <p:cNvSpPr txBox="1"/>
          <p:nvPr/>
        </p:nvSpPr>
        <p:spPr>
          <a:xfrm>
            <a:off x="1308767" y="2831585"/>
            <a:ext cx="835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Überall Dort wo man kontrollierbare, glatte Kurven braucht</a:t>
            </a:r>
            <a:endParaRPr lang="de-DE" b="1" i="1" dirty="0"/>
          </a:p>
        </p:txBody>
      </p:sp>
    </p:spTree>
    <p:extLst>
      <p:ext uri="{BB962C8B-B14F-4D97-AF65-F5344CB8AC3E}">
        <p14:creationId xmlns:p14="http://schemas.microsoft.com/office/powerpoint/2010/main" val="2151657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720FE-1894-A04C-A3C4-8FD26947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9D9204-2391-8E70-8865-C2ACE654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egoe UI" panose="020B0502040204020203" pitchFamily="34" charset="0"/>
                <a:cs typeface="Segoe UI" panose="020B0502040204020203" pitchFamily="34" charset="0"/>
              </a:rPr>
              <a:t>V. Bézier Kurven im Programmcode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C6AE7AD9-8E60-7461-0558-489E26255E2C}"/>
              </a:ext>
            </a:extLst>
          </p:cNvPr>
          <p:cNvGrpSpPr/>
          <p:nvPr/>
        </p:nvGrpSpPr>
        <p:grpSpPr>
          <a:xfrm>
            <a:off x="4778375" y="2952770"/>
            <a:ext cx="2635250" cy="952460"/>
            <a:chOff x="4013200" y="3429000"/>
            <a:chExt cx="2635250" cy="952460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A74BAA5A-D405-1532-E1F0-AE900CC82411}"/>
                </a:ext>
              </a:extLst>
            </p:cNvPr>
            <p:cNvSpPr txBox="1"/>
            <p:nvPr/>
          </p:nvSpPr>
          <p:spPr>
            <a:xfrm>
              <a:off x="4013200" y="3429000"/>
              <a:ext cx="2635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hlinkClick r:id="rId2"/>
                </a:rPr>
                <a:t>15punktegfs.com/</a:t>
              </a:r>
              <a:r>
                <a:rPr lang="de-DE" dirty="0" err="1">
                  <a:hlinkClick r:id="rId2"/>
                </a:rPr>
                <a:t>mathe</a:t>
              </a:r>
              <a:endParaRPr lang="de-DE" dirty="0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BBB08D5F-674A-87FE-38DC-C4ABF861B8AD}"/>
                </a:ext>
              </a:extLst>
            </p:cNvPr>
            <p:cNvSpPr txBox="1"/>
            <p:nvPr/>
          </p:nvSpPr>
          <p:spPr>
            <a:xfrm>
              <a:off x="4556125" y="4012128"/>
              <a:ext cx="1549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hlinkClick r:id="rId3"/>
                </a:rPr>
                <a:t>GitHub-Repo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4267018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1">
      <a:majorFont>
        <a:latin typeface="Sergoe U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1450</Words>
  <Application>Microsoft Office PowerPoint</Application>
  <PresentationFormat>Breitbild</PresentationFormat>
  <Paragraphs>268</Paragraphs>
  <Slides>42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42</vt:i4>
      </vt:variant>
    </vt:vector>
  </HeadingPairs>
  <TitlesOfParts>
    <vt:vector size="48" baseType="lpstr">
      <vt:lpstr>Aptos</vt:lpstr>
      <vt:lpstr>Arial</vt:lpstr>
      <vt:lpstr>Cambria Math</vt:lpstr>
      <vt:lpstr>Segoe UI</vt:lpstr>
      <vt:lpstr>Sergoe UI</vt:lpstr>
      <vt:lpstr>Office</vt:lpstr>
      <vt:lpstr>PowerPoint-Präsentation</vt:lpstr>
      <vt:lpstr>PowerPoint-Präsentation</vt:lpstr>
      <vt:lpstr>PowerPoint-Präsentation</vt:lpstr>
      <vt:lpstr>II. Geschichte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II. Generelle Form</vt:lpstr>
      <vt:lpstr>III. Bernstein Polynom</vt:lpstr>
      <vt:lpstr>III. Bernstein Polynom</vt:lpstr>
      <vt:lpstr>III. Bernstein Polynom</vt:lpstr>
      <vt:lpstr>III. Bernstein Polynom</vt:lpstr>
      <vt:lpstr>III. Bernstein Polynom</vt:lpstr>
      <vt:lpstr>III. Bernstein Polynom</vt:lpstr>
      <vt:lpstr>III. Bernstein Polynom</vt:lpstr>
      <vt:lpstr>III. Bernstein Polynom</vt:lpstr>
      <vt:lpstr>III. Bernstein Polynom</vt:lpstr>
      <vt:lpstr>III. Bernstein Polynom</vt:lpstr>
      <vt:lpstr>III. Bernstein Polynom</vt:lpstr>
      <vt:lpstr>IV. Zurück in Bézier Kurven</vt:lpstr>
      <vt:lpstr>IV. Zurück in Bézier Kurven</vt:lpstr>
      <vt:lpstr>IV. Zurück in Bézier Kurven</vt:lpstr>
      <vt:lpstr>V. Anwendung von Bézier Kurven</vt:lpstr>
      <vt:lpstr>V. Bézier Kurven im Programmcode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Felizitas Badouin</dc:creator>
  <cp:lastModifiedBy>Felizitas Badouin</cp:lastModifiedBy>
  <cp:revision>33</cp:revision>
  <dcterms:created xsi:type="dcterms:W3CDTF">2025-10-25T09:30:11Z</dcterms:created>
  <dcterms:modified xsi:type="dcterms:W3CDTF">2026-03-10T17:24:32Z</dcterms:modified>
</cp:coreProperties>
</file>